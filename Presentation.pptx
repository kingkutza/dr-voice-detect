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pPr algn="ctr"/>
            <a:r>
              <a:rPr b="0" lang="en-US" sz="4400" strike="noStrike" u="none">
                <a:solidFill>
                  <a:srgbClr val="000000"/>
                </a:solidFill>
                <a:effectLst/>
                <a:uFillTx/>
                <a:latin typeface="Arial"/>
              </a:rPr>
              <a:t>Click to move the slide</a:t>
            </a:r>
            <a:endParaRPr b="0" lang="en-US" sz="4400" strike="noStrike" u="none">
              <a:solidFill>
                <a:srgbClr val="000000"/>
              </a:solidFill>
              <a:effectLst/>
              <a:uFillTx/>
              <a:latin typeface="Arial"/>
            </a:endParaRPr>
          </a:p>
        </p:txBody>
      </p:sp>
      <p:sp>
        <p:nvSpPr>
          <p:cNvPr id="3"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4"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5"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6"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D6C7D197-5E8A-462D-8637-4EE2CFF008FC}"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sldImg"/>
          </p:nvPr>
        </p:nvSpPr>
        <p:spPr>
          <a:xfrm>
            <a:off x="685800" y="1143000"/>
            <a:ext cx="5485680" cy="3085560"/>
          </a:xfrm>
          <a:prstGeom prst="rect">
            <a:avLst/>
          </a:prstGeom>
          <a:ln w="0">
            <a:noFill/>
          </a:ln>
        </p:spPr>
      </p:sp>
      <p:sp>
        <p:nvSpPr>
          <p:cNvPr id="22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Hi everyone — I'm Donald, and with me is Rhett. We spent this project looking at the effects of denoising on speaker recognition. The question sounds simple: if we clean up noisy audio before we try to identify a speaker, does the biometric system work better? The answer turned out to be more interesting than a straight yes or no, and that's what we want to walk through today.</a:t>
            </a:r>
            <a:endParaRPr b="0" lang="en-US" sz="2000" strike="noStrike" u="none">
              <a:solidFill>
                <a:srgbClr val="000000"/>
              </a:solidFill>
              <a:effectLst/>
              <a:uFillTx/>
              <a:latin typeface="Arial"/>
            </a:endParaRPr>
          </a:p>
        </p:txBody>
      </p:sp>
      <p:sp>
        <p:nvSpPr>
          <p:cNvPr id="222"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FDC11A88-E2B9-4100-9736-D9A938EED4C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sldImg"/>
          </p:nvPr>
        </p:nvSpPr>
        <p:spPr>
          <a:xfrm>
            <a:off x="685800" y="1143000"/>
            <a:ext cx="5485680" cy="3085560"/>
          </a:xfrm>
          <a:prstGeom prst="rect">
            <a:avLst/>
          </a:prstGeom>
          <a:ln w="0">
            <a:noFill/>
          </a:ln>
        </p:spPr>
      </p:sp>
      <p:sp>
        <p:nvSpPr>
          <p:cNvPr id="22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First, why this matters. Speaker recognition is a behavioral biometric trait — your voice is the signal, just like a fingerprint or an iris pattern is in other systems. It's used for phone banking, smart devices, forensic analysis, and access control. Unlike a fingerprint scanner though, a voice system has no controlled sensor environment — whatever noise is in the room goes into the sample. A small amount of background noise can move genuine and impostor scores closer together, which is exactly the separation biometrics depends on.</a:t>
            </a:r>
            <a:endParaRPr b="0" lang="en-US" sz="2000" strike="noStrike" u="none">
              <a:solidFill>
                <a:srgbClr val="000000"/>
              </a:solidFill>
              <a:effectLst/>
              <a:uFillTx/>
              <a:latin typeface="Arial"/>
            </a:endParaRPr>
          </a:p>
        </p:txBody>
      </p:sp>
      <p:sp>
        <p:nvSpPr>
          <p:cNvPr id="225"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8EF13039-39AC-4DCB-96F1-ED75E25AEFD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sldImg"/>
          </p:nvPr>
        </p:nvSpPr>
        <p:spPr>
          <a:xfrm>
            <a:off x="685800" y="1143000"/>
            <a:ext cx="5485680" cy="3085560"/>
          </a:xfrm>
          <a:prstGeom prst="rect">
            <a:avLst/>
          </a:prstGeom>
          <a:ln w="0">
            <a:noFill/>
          </a:ln>
        </p:spPr>
      </p:sp>
      <p:sp>
        <p:nvSpPr>
          <p:cNvPr id="22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Before we talk about our pipeline, a quick primer on how a computer sees a voice, because this is where the audio side diverges from the biometric traits most of you worked with. A voice clip is a waveform — a pressure signal over time. But identity doesn't live in the raw waveform; it lives in how the energy is distributed across frequencies. To get at that, we run a short-time Fourier transform, which gives us a spectrogram: time along the x-axis, frequency up the y-axis, color showing how much energy is at each frequency at each moment. The horizontal stripes you'll see in our spectrograms are harmonics — integer multiples of the speaker's pitch — and their spacing plus the broader envelope above them carry most of the speaker-identifying information.</a:t>
            </a:r>
            <a:endParaRPr b="0" lang="en-US" sz="2000" strike="noStrike" u="none">
              <a:solidFill>
                <a:srgbClr val="000000"/>
              </a:solidFill>
              <a:effectLst/>
              <a:uFillTx/>
              <a:latin typeface="Arial"/>
            </a:endParaRPr>
          </a:p>
        </p:txBody>
      </p:sp>
      <p:sp>
        <p:nvSpPr>
          <p:cNvPr id="228"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6FDB53BB-8EAA-4811-A181-1A6E9B22B2D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sldImg"/>
          </p:nvPr>
        </p:nvSpPr>
        <p:spPr>
          <a:xfrm>
            <a:off x="685800" y="1143000"/>
            <a:ext cx="5485680" cy="3085560"/>
          </a:xfrm>
          <a:prstGeom prst="rect">
            <a:avLst/>
          </a:prstGeom>
          <a:ln w="0">
            <a:noFill/>
          </a:ln>
        </p:spPr>
      </p:sp>
      <p:sp>
        <p:nvSpPr>
          <p:cNvPr id="23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We compress that spectrogram into a compact feature vector using MFCCs — Mel-Frequency Cepstral Coefficients. Don't let the name scare you. The mel scale is just a frequency axis warped to match human hearing — we hear differences at low frequencies much better than at high frequencies, so we give low frequencies more resolution. MFCCs summarize the overall shape of the spectrum in a small number of coefficients — we use thirteen. They're the standard front-end for speaker and speech recognition for decades now because they throw away pitch details while keeping the envelope that characterizes a voice. That's the analog of what a minutiae extractor does for a fingerprint — it turns the raw signal into a compact, comparable template.</a:t>
            </a:r>
            <a:endParaRPr b="0" lang="en-US" sz="2000" strike="noStrike" u="none">
              <a:solidFill>
                <a:srgbClr val="000000"/>
              </a:solidFill>
              <a:effectLst/>
              <a:uFillTx/>
              <a:latin typeface="Arial"/>
            </a:endParaRPr>
          </a:p>
        </p:txBody>
      </p:sp>
      <p:sp>
        <p:nvSpPr>
          <p:cNvPr id="231"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D2702F0-7BD2-484B-8599-A9E7E7BA2B5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685800" y="1143000"/>
            <a:ext cx="5485680" cy="3085560"/>
          </a:xfrm>
          <a:prstGeom prst="rect">
            <a:avLst/>
          </a:prstGeom>
          <a:ln w="0">
            <a:noFill/>
          </a:ln>
        </p:spPr>
      </p:sp>
      <p:sp>
        <p:nvSpPr>
          <p:cNvPr id="23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Now the biometric pipeline, which should feel familiar. Enrollment: we take five clean-ish clips from the speaker, compute MFCC features on each, and average them into a single reference template — what we call the centroid. Verification: a new clip comes in, we extract its features, and we compare it to the stored centroid using Euclidean distance. Below the threshold, the system accepts; above, it rejects. Threshold-based matching on a distance score — the same decision rule you'd use on any other biometric template.</a:t>
            </a:r>
            <a:endParaRPr b="0" lang="en-US" sz="2000" strike="noStrike" u="none">
              <a:solidFill>
                <a:srgbClr val="000000"/>
              </a:solidFill>
              <a:effectLst/>
              <a:uFillTx/>
              <a:latin typeface="Arial"/>
            </a:endParaRPr>
          </a:p>
        </p:txBody>
      </p:sp>
      <p:sp>
        <p:nvSpPr>
          <p:cNvPr id="234"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879CF7A-D16B-4F50-92A5-7BA6948A1BF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sldImg"/>
          </p:nvPr>
        </p:nvSpPr>
        <p:spPr>
          <a:xfrm>
            <a:off x="685800" y="1143000"/>
            <a:ext cx="5485680" cy="3085560"/>
          </a:xfrm>
          <a:prstGeom prst="rect">
            <a:avLst/>
          </a:prstGeom>
          <a:ln w="0">
            <a:noFill/>
          </a:ln>
        </p:spPr>
      </p:sp>
      <p:sp>
        <p:nvSpPr>
          <p:cNvPr id="23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So the research question is: does running a speech denoiser before we extract features actually improve verification performance? And if it helps, does it help uniformly, or does it trade one kind of error for another?</a:t>
            </a:r>
            <a:endParaRPr b="0" lang="en-US" sz="2000" strike="noStrike" u="none">
              <a:solidFill>
                <a:srgbClr val="000000"/>
              </a:solidFill>
              <a:effectLst/>
              <a:uFillTx/>
              <a:latin typeface="Arial"/>
            </a:endParaRPr>
          </a:p>
        </p:txBody>
      </p:sp>
      <p:sp>
        <p:nvSpPr>
          <p:cNvPr id="237"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F2E8DB42-374F-4849-850F-E622D3118F0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685800" y="1143000"/>
            <a:ext cx="5485680" cy="3085560"/>
          </a:xfrm>
          <a:prstGeom prst="rect">
            <a:avLst/>
          </a:prstGeom>
          <a:ln w="0">
            <a:noFill/>
          </a:ln>
        </p:spPr>
      </p:sp>
      <p:sp>
        <p:nvSpPr>
          <p:cNvPr id="23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Handing off to Rhett for methods.</a:t>
            </a:r>
            <a:endParaRPr b="0" lang="en-US" sz="2000" strike="noStrike" u="none">
              <a:solidFill>
                <a:srgbClr val="000000"/>
              </a:solidFill>
              <a:effectLst/>
              <a:uFillTx/>
              <a:latin typeface="Arial"/>
            </a:endParaRPr>
          </a:p>
        </p:txBody>
      </p:sp>
      <p:sp>
        <p:nvSpPr>
          <p:cNvPr id="240"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7D42CC20-091A-4676-8225-72F5066D86C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685800" y="1143000"/>
            <a:ext cx="5485680" cy="3085560"/>
          </a:xfrm>
          <a:prstGeom prst="rect">
            <a:avLst/>
          </a:prstGeom>
          <a:ln w="0">
            <a:noFill/>
          </a:ln>
        </p:spPr>
      </p:sp>
      <p:sp>
        <p:nvSpPr>
          <p:cNvPr id="24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Thanks. Our pipeline is deliberately controlled. Every sample is run through feature extraction two ways — raw, and denoised first — then compared to the same enrolled centroid with the same threshold. The only variable is whether denoising happened. For the denoiser we used Rashadul Hasan Badhon's pretrained speech enhancement model, off-the-shelf; we wanted to measure what a practitioner gets by dropping a standard tool in, not the ceiling of a custom-trained model. Data-wise, we collected everything ourselves around campus — two enrolled speakers, eighty samples total: five clips per speaker to enroll, and then five clips per speaker at each of seven different noise locations. So the evaluation set varies by speaker and by acoustic environment.</a:t>
            </a:r>
            <a:endParaRPr b="0" lang="en-US" sz="2000" strike="noStrike" u="none">
              <a:solidFill>
                <a:srgbClr val="000000"/>
              </a:solidFill>
              <a:effectLst/>
              <a:uFillTx/>
              <a:latin typeface="Arial"/>
            </a:endParaRPr>
          </a:p>
        </p:txBody>
      </p:sp>
      <p:sp>
        <p:nvSpPr>
          <p:cNvPr id="243"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60669162-FB9B-4096-BF8A-93B5FF0B040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685800" y="1143000"/>
            <a:ext cx="5485680" cy="3085560"/>
          </a:xfrm>
          <a:prstGeom prst="rect">
            <a:avLst/>
          </a:prstGeom>
          <a:ln w="0">
            <a:noFill/>
          </a:ln>
        </p:spPr>
      </p:sp>
      <p:sp>
        <p:nvSpPr>
          <p:cNvPr id="24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For metrics we report three rates at a fixed threshold of seventy-five Euclidean units. False Accept Rate — how often an impostor slips through. False Reject Rate — how often the true speaker is rejected. True Accept Rate — one minus FRR. Same rates you report for any biometric; nothing audio-specific here.</a:t>
            </a:r>
            <a:endParaRPr b="0" lang="en-US" sz="2000" strike="noStrike" u="none">
              <a:solidFill>
                <a:srgbClr val="000000"/>
              </a:solidFill>
              <a:effectLst/>
              <a:uFillTx/>
              <a:latin typeface="Arial"/>
            </a:endParaRPr>
          </a:p>
        </p:txBody>
      </p:sp>
      <p:sp>
        <p:nvSpPr>
          <p:cNvPr id="246"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AE7B2506-FE27-47D3-BF02-78132923FDE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685800" y="1143000"/>
            <a:ext cx="5485680" cy="3085560"/>
          </a:xfrm>
          <a:prstGeom prst="rect">
            <a:avLst/>
          </a:prstGeom>
          <a:ln w="0">
            <a:noFill/>
          </a:ln>
        </p:spPr>
      </p:sp>
      <p:sp>
        <p:nvSpPr>
          <p:cNvPr id="24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Visually, here's what denoising does to a single clip. On the left is the raw spectrogram: harmonic bands of the voice are visible but a lot of diffuse energy fills the background, especially at higher frequencies. On the right, after denoising: the harmonic stripes are sharper, the background haze is knocked down. If you stopped here you'd expect recognition to improve a lot.</a:t>
            </a:r>
            <a:endParaRPr b="0" lang="en-US" sz="2000" strike="noStrike" u="none">
              <a:solidFill>
                <a:srgbClr val="000000"/>
              </a:solidFill>
              <a:effectLst/>
              <a:uFillTx/>
              <a:latin typeface="Arial"/>
            </a:endParaRPr>
          </a:p>
        </p:txBody>
      </p:sp>
      <p:sp>
        <p:nvSpPr>
          <p:cNvPr id="249"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C82C8B57-3B08-4BB9-A046-E8C8826664A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685800" y="1143000"/>
            <a:ext cx="5485680" cy="3085560"/>
          </a:xfrm>
          <a:prstGeom prst="rect">
            <a:avLst/>
          </a:prstGeom>
          <a:ln w="0">
            <a:noFill/>
          </a:ln>
        </p:spPr>
      </p:sp>
      <p:sp>
        <p:nvSpPr>
          <p:cNvPr id="25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Here are the score histograms side by side. Blue is genuine — a speaker's own clip against their centroid. Red is impostor. The dashed line is the threshold at seventy-five. On the left, raw audio: heavy overlap through the threshold region — that's where the errors come from. On the right, denoised: the distributions do separate more — genuine shifts a bit lower, impostor shifts higher — but the separation isn't large enough to solve the problem on its own. Denoising helped; it just didn't help enough under this pipeline.</a:t>
            </a:r>
            <a:endParaRPr b="0" lang="en-US" sz="2000" strike="noStrike" u="none">
              <a:solidFill>
                <a:srgbClr val="000000"/>
              </a:solidFill>
              <a:effectLst/>
              <a:uFillTx/>
              <a:latin typeface="Arial"/>
            </a:endParaRPr>
          </a:p>
        </p:txBody>
      </p:sp>
      <p:sp>
        <p:nvSpPr>
          <p:cNvPr id="252"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5C31B27D-894E-4DA4-B717-D5BC3BD44B9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685800" y="1143000"/>
            <a:ext cx="5485680" cy="3085560"/>
          </a:xfrm>
          <a:prstGeom prst="rect">
            <a:avLst/>
          </a:prstGeom>
          <a:ln w="0">
            <a:noFill/>
          </a:ln>
        </p:spPr>
      </p:sp>
      <p:sp>
        <p:nvSpPr>
          <p:cNvPr id="25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The rates show the same story in another form. Blue is raw, green is denoised. True Accept Rate climbs from sixty-three percent to ninety-two, False Reject Rate falls from thirty-seven to eight — clear wins. False Accept Rate, though, rises from eleven to forty-three. Two things to be clear about here. First, the threshold was held fixed at seventy-five across both conditions; we did not re-tune it, because our focus this study was the distribution of scores, not the operating point. Second, the rates are threshold-dependent; the underlying separability improved, but at this fixed cut the system reads as much more permissive.</a:t>
            </a:r>
            <a:endParaRPr b="0" lang="en-US" sz="2000" strike="noStrike" u="none">
              <a:solidFill>
                <a:srgbClr val="000000"/>
              </a:solidFill>
              <a:effectLst/>
              <a:uFillTx/>
              <a:latin typeface="Arial"/>
            </a:endParaRPr>
          </a:p>
        </p:txBody>
      </p:sp>
      <p:sp>
        <p:nvSpPr>
          <p:cNvPr id="255" name="PlaceHolder 3"/>
          <p:cNvSpPr>
            <a:spLocks noGrp="1"/>
          </p:cNvSpPr>
          <p:nvPr>
            <p:ph type="sldNum" idx="15"/>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D3C9D0B9-D0A0-46B3-8141-13DBA1DC3B5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685800" y="1143000"/>
            <a:ext cx="5485680" cy="3085560"/>
          </a:xfrm>
          <a:prstGeom prst="rect">
            <a:avLst/>
          </a:prstGeom>
          <a:ln w="0">
            <a:noFill/>
          </a:ln>
        </p:spPr>
      </p:sp>
      <p:sp>
        <p:nvSpPr>
          <p:cNvPr id="25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Our interpretation in biometric terms: denoising does increase separability of genuine versus impostor templates — the histograms widen apart — but not by enough to yield a solidly separable template space under a fixed threshold, especially with a simple MFCC-plus-centroid front end. A stronger denoiser or a modern neural speaker embedding would almost certainly give a larger improvement. What we can say confidently is that denoising is real help at the feature level, but if you keep a raw-calibrated threshold, you'll read out more false accepts — the operating point has to move with the processing.</a:t>
            </a:r>
            <a:endParaRPr b="0" lang="en-US" sz="2000" strike="noStrike" u="none">
              <a:solidFill>
                <a:srgbClr val="000000"/>
              </a:solidFill>
              <a:effectLst/>
              <a:uFillTx/>
              <a:latin typeface="Arial"/>
            </a:endParaRPr>
          </a:p>
        </p:txBody>
      </p:sp>
      <p:sp>
        <p:nvSpPr>
          <p:cNvPr id="258" name="PlaceHolder 3"/>
          <p:cNvSpPr>
            <a:spLocks noGrp="1"/>
          </p:cNvSpPr>
          <p:nvPr>
            <p:ph type="sldNum" idx="16"/>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ABF085DB-C010-4F64-8F00-03F5E3689C9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685800" y="1143000"/>
            <a:ext cx="5485680" cy="3085560"/>
          </a:xfrm>
          <a:prstGeom prst="rect">
            <a:avLst/>
          </a:prstGeom>
          <a:ln w="0">
            <a:noFill/>
          </a:ln>
        </p:spPr>
      </p:sp>
      <p:sp>
        <p:nvSpPr>
          <p:cNvPr id="26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00000"/>
              </a:lnSpc>
              <a:buNone/>
              <a:tabLst>
                <a:tab algn="l" pos="0"/>
              </a:tabLst>
            </a:pPr>
            <a:r>
              <a:rPr b="0" lang="en-US" sz="2000" strike="noStrike" u="none">
                <a:solidFill>
                  <a:srgbClr val="000000"/>
                </a:solidFill>
                <a:effectLst/>
                <a:uFillTx/>
                <a:latin typeface="Arial"/>
              </a:rPr>
              <a:t>To wrap up: denoising does help. It sharpens voice structure, it pulls apart genuine and impostor distributions, and it recovers real speakers that raw noise was causing the system to reject. It just doesn't help enough, on its own, to let a fixed threshold carry the day. Better denoising and a stronger recognition back-end would plausibly close the remaining gap. In the meantime, the practical rule of thumb is: if you add denoising to the front of a biometric pipeline, re-tune the threshold for the new score distribution. Thanks — we used Rashadul Hasan Badhon's denoiser, collected our own campus data, and we're happy to take questions.</a:t>
            </a:r>
            <a:endParaRPr b="0" lang="en-US" sz="2000" strike="noStrike" u="none">
              <a:solidFill>
                <a:srgbClr val="000000"/>
              </a:solidFill>
              <a:effectLst/>
              <a:uFillTx/>
              <a:latin typeface="Arial"/>
            </a:endParaRPr>
          </a:p>
        </p:txBody>
      </p:sp>
      <p:sp>
        <p:nvSpPr>
          <p:cNvPr id="261" name="PlaceHolder 3"/>
          <p:cNvSpPr>
            <a:spLocks noGrp="1"/>
          </p:cNvSpPr>
          <p:nvPr>
            <p:ph type="sldNum" idx="17"/>
          </p:nvPr>
        </p:nvSpPr>
        <p:spPr>
          <a:xfrm>
            <a:off x="3884760" y="8685360"/>
            <a:ext cx="2971080" cy="45792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US" sz="1200" strike="noStrike" u="none">
                <a:solidFill>
                  <a:schemeClr val="dk1"/>
                </a:solidFill>
                <a:effectLst/>
                <a:uFillTx/>
                <a:latin typeface="+mn-lt"/>
                <a:ea typeface="+mn-ea"/>
              </a:defRPr>
            </a:lvl1pPr>
          </a:lstStyle>
          <a:p>
            <a:pPr indent="0" algn="r" defTabSz="914400">
              <a:lnSpc>
                <a:spcPct val="100000"/>
              </a:lnSpc>
              <a:buNone/>
              <a:tabLst>
                <a:tab algn="l" pos="0"/>
              </a:tabLst>
            </a:pPr>
            <a:fld id="{FD884380-575C-4C69-B905-9219F369C59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to edit </a:t>
            </a:r>
            <a:r>
              <a:rPr b="0" lang="en-US" sz="4400" strike="noStrike" u="none">
                <a:solidFill>
                  <a:srgbClr val="000000"/>
                </a:solidFill>
                <a:effectLst/>
                <a:uFillTx/>
                <a:latin typeface="Arial"/>
              </a:rPr>
              <a:t>the title text </a:t>
            </a:r>
            <a:r>
              <a:rPr b="0" lang="en-US" sz="4400" strike="noStrike" u="none">
                <a:solidFill>
                  <a:srgbClr val="000000"/>
                </a:solidFill>
                <a:effectLst/>
                <a:uFillTx/>
                <a:latin typeface="Arial"/>
              </a:rPr>
              <a:t>format</a:t>
            </a:r>
            <a:endParaRPr b="0" lang="en-US" sz="4400" strike="noStrike" u="none">
              <a:solidFill>
                <a:srgbClr val="000000"/>
              </a:solidFill>
              <a:effectLst/>
              <a:uFillTx/>
              <a:latin typeface="Arial"/>
            </a:endParaRPr>
          </a:p>
        </p:txBody>
      </p:sp>
      <p:sp>
        <p:nvSpPr>
          <p:cNvPr id="1" name="PlaceHolder 2"/>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8" name="Text 0"/>
          <p:cNvSpPr/>
          <p:nvPr/>
        </p:nvSpPr>
        <p:spPr>
          <a:xfrm>
            <a:off x="952560" y="457200"/>
            <a:ext cx="467856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RESEARCH PRESENTATION · 2026</a:t>
            </a:r>
            <a:endParaRPr b="0" lang="en-US" sz="1800" strike="noStrike" u="none">
              <a:solidFill>
                <a:srgbClr val="000000"/>
              </a:solidFill>
              <a:effectLst/>
              <a:uFillTx/>
              <a:latin typeface="Arial"/>
            </a:endParaRPr>
          </a:p>
        </p:txBody>
      </p:sp>
      <p:sp>
        <p:nvSpPr>
          <p:cNvPr id="9"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01 / 14</a:t>
            </a:r>
            <a:endParaRPr b="0" lang="en-US" sz="1800" strike="noStrike" u="none">
              <a:solidFill>
                <a:srgbClr val="000000"/>
              </a:solidFill>
              <a:effectLst/>
              <a:uFillTx/>
              <a:latin typeface="Arial"/>
            </a:endParaRPr>
          </a:p>
        </p:txBody>
      </p:sp>
      <p:sp>
        <p:nvSpPr>
          <p:cNvPr id="10" name="Text 2"/>
          <p:cNvSpPr/>
          <p:nvPr/>
        </p:nvSpPr>
        <p:spPr>
          <a:xfrm>
            <a:off x="952560" y="278604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A STUDY IN VOICE BIOMETRICS</a:t>
            </a:r>
            <a:endParaRPr b="0" lang="en-US" sz="1800" strike="noStrike" u="none">
              <a:solidFill>
                <a:srgbClr val="000000"/>
              </a:solidFill>
              <a:effectLst/>
              <a:uFillTx/>
              <a:latin typeface="Arial"/>
            </a:endParaRPr>
          </a:p>
        </p:txBody>
      </p:sp>
      <p:sp>
        <p:nvSpPr>
          <p:cNvPr id="11" name="Text 3"/>
          <p:cNvSpPr/>
          <p:nvPr/>
        </p:nvSpPr>
        <p:spPr>
          <a:xfrm>
            <a:off x="952560" y="3424320"/>
            <a:ext cx="15696360" cy="22777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98000"/>
              </a:lnSpc>
              <a:tabLst>
                <a:tab algn="l" pos="0"/>
              </a:tabLst>
            </a:pPr>
            <a:r>
              <a:rPr b="0" lang="en-US" sz="9000" spc="-224" strike="noStrike" u="none">
                <a:solidFill>
                  <a:srgbClr val="1a1a1f"/>
                </a:solidFill>
                <a:effectLst/>
                <a:uFillTx/>
                <a:latin typeface="Arial"/>
                <a:ea typeface="Arial"/>
              </a:rPr>
              <a:t>The Effects of Denoising on Speaker Recognition</a:t>
            </a:r>
            <a:endParaRPr b="0" lang="en-US" sz="9000" strike="noStrike" u="none">
              <a:solidFill>
                <a:srgbClr val="000000"/>
              </a:solidFill>
              <a:effectLst/>
              <a:uFillTx/>
              <a:latin typeface="Arial"/>
            </a:endParaRPr>
          </a:p>
        </p:txBody>
      </p:sp>
      <p:sp>
        <p:nvSpPr>
          <p:cNvPr id="12" name="Shape 4"/>
          <p:cNvSpPr/>
          <p:nvPr/>
        </p:nvSpPr>
        <p:spPr>
          <a:xfrm>
            <a:off x="952560" y="6350040"/>
            <a:ext cx="4571280" cy="8640"/>
          </a:xfrm>
          <a:prstGeom prst="rect">
            <a:avLst/>
          </a:prstGeom>
          <a:solidFill>
            <a:srgbClr val="c9c2b2"/>
          </a:solidFill>
          <a:ln w="0">
            <a:noFill/>
          </a:ln>
        </p:spPr>
        <p:style>
          <a:lnRef idx="0"/>
          <a:fillRef idx="0"/>
          <a:effectRef idx="0"/>
          <a:fontRef idx="minor"/>
        </p:style>
        <p:txBody>
          <a:bodyPr lIns="90000" rIns="90000" tIns="-35640" bIns="-35640" anchor="t">
            <a:noAutofit/>
          </a:bodyPr>
          <a:p>
            <a:pPr>
              <a:lnSpc>
                <a:spcPct val="100000"/>
              </a:lnSpc>
            </a:pPr>
            <a:endParaRPr b="0" lang="en-US" sz="1800" strike="noStrike" u="none">
              <a:solidFill>
                <a:srgbClr val="000000"/>
              </a:solidFill>
              <a:effectLst/>
              <a:uFillTx/>
              <a:latin typeface="Arial"/>
            </a:endParaRPr>
          </a:p>
        </p:txBody>
      </p:sp>
      <p:sp>
        <p:nvSpPr>
          <p:cNvPr id="13" name="Text 5"/>
          <p:cNvSpPr/>
          <p:nvPr/>
        </p:nvSpPr>
        <p:spPr>
          <a:xfrm>
            <a:off x="952560" y="6626520"/>
            <a:ext cx="270504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PRESENTER 01</a:t>
            </a:r>
            <a:endParaRPr b="0" lang="en-US" sz="2100" strike="noStrike" u="none">
              <a:solidFill>
                <a:srgbClr val="000000"/>
              </a:solidFill>
              <a:effectLst/>
              <a:uFillTx/>
              <a:latin typeface="Arial"/>
            </a:endParaRPr>
          </a:p>
        </p:txBody>
      </p:sp>
      <p:sp>
        <p:nvSpPr>
          <p:cNvPr id="14" name="Text 6"/>
          <p:cNvSpPr/>
          <p:nvPr/>
        </p:nvSpPr>
        <p:spPr>
          <a:xfrm>
            <a:off x="952560" y="7062480"/>
            <a:ext cx="2705040" cy="4755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2850" strike="noStrike" u="none">
                <a:solidFill>
                  <a:srgbClr val="1a1a1f"/>
                </a:solidFill>
                <a:effectLst/>
                <a:uFillTx/>
                <a:latin typeface="Arial"/>
                <a:ea typeface="Arial"/>
              </a:rPr>
              <a:t>Donald Robinson</a:t>
            </a:r>
            <a:endParaRPr b="0" lang="en-US" sz="2850" strike="noStrike" u="none">
              <a:solidFill>
                <a:srgbClr val="000000"/>
              </a:solidFill>
              <a:effectLst/>
              <a:uFillTx/>
              <a:latin typeface="Arial"/>
            </a:endParaRPr>
          </a:p>
        </p:txBody>
      </p:sp>
      <p:sp>
        <p:nvSpPr>
          <p:cNvPr id="15" name="Text 7"/>
          <p:cNvSpPr/>
          <p:nvPr/>
        </p:nvSpPr>
        <p:spPr>
          <a:xfrm>
            <a:off x="4912920" y="6626520"/>
            <a:ext cx="244404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PRESENTER 02</a:t>
            </a:r>
            <a:endParaRPr b="0" lang="en-US" sz="2100" strike="noStrike" u="none">
              <a:solidFill>
                <a:srgbClr val="000000"/>
              </a:solidFill>
              <a:effectLst/>
              <a:uFillTx/>
              <a:latin typeface="Arial"/>
            </a:endParaRPr>
          </a:p>
        </p:txBody>
      </p:sp>
      <p:sp>
        <p:nvSpPr>
          <p:cNvPr id="16" name="Text 8"/>
          <p:cNvSpPr/>
          <p:nvPr/>
        </p:nvSpPr>
        <p:spPr>
          <a:xfrm>
            <a:off x="4912920" y="7062480"/>
            <a:ext cx="2444040" cy="47556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2850" strike="noStrike" u="none">
                <a:solidFill>
                  <a:srgbClr val="1a1a1f"/>
                </a:solidFill>
                <a:effectLst/>
                <a:uFillTx/>
                <a:latin typeface="Arial"/>
                <a:ea typeface="Arial"/>
              </a:rPr>
              <a:t>Rhett Wood</a:t>
            </a:r>
            <a:endParaRPr b="0" lang="en-US" sz="2850" strike="noStrike" u="none">
              <a:solidFill>
                <a:srgbClr val="000000"/>
              </a:solidFill>
              <a:effectLst/>
              <a:uFillTx/>
              <a:latin typeface="Arial"/>
            </a:endParaRPr>
          </a:p>
        </p:txBody>
      </p:sp>
      <p:sp>
        <p:nvSpPr>
          <p:cNvPr id="17" name="Text 9"/>
          <p:cNvSpPr/>
          <p:nvPr/>
        </p:nvSpPr>
        <p:spPr>
          <a:xfrm>
            <a:off x="952560" y="9496440"/>
            <a:ext cx="7303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THE EFFECTS OF DENOISING ON SPEAKER RECOGNITION</a:t>
            </a:r>
            <a:endParaRPr b="0" lang="en-US" sz="1800" strike="noStrike" u="none">
              <a:solidFill>
                <a:srgbClr val="000000"/>
              </a:solidFill>
              <a:effectLst/>
              <a:uFillTx/>
              <a:latin typeface="Arial"/>
            </a:endParaRPr>
          </a:p>
        </p:txBody>
      </p:sp>
      <p:sp>
        <p:nvSpPr>
          <p:cNvPr id="18" name="Text 10"/>
          <p:cNvSpPr/>
          <p:nvPr/>
        </p:nvSpPr>
        <p:spPr>
          <a:xfrm>
            <a:off x="16128360" y="9496440"/>
            <a:ext cx="12826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APR 2026</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9"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0"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02 / 14</a:t>
            </a:r>
            <a:endParaRPr b="0" lang="en-US" sz="1800" strike="noStrike" u="none">
              <a:solidFill>
                <a:srgbClr val="000000"/>
              </a:solidFill>
              <a:effectLst/>
              <a:uFillTx/>
              <a:latin typeface="Arial"/>
            </a:endParaRPr>
          </a:p>
        </p:txBody>
      </p:sp>
      <p:sp>
        <p:nvSpPr>
          <p:cNvPr id="21"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MOTIVATION</a:t>
            </a:r>
            <a:endParaRPr b="0" lang="en-US" sz="1800" strike="noStrike" u="none">
              <a:solidFill>
                <a:srgbClr val="000000"/>
              </a:solidFill>
              <a:effectLst/>
              <a:uFillTx/>
              <a:latin typeface="Arial"/>
            </a:endParaRPr>
          </a:p>
        </p:txBody>
      </p:sp>
      <p:sp>
        <p:nvSpPr>
          <p:cNvPr id="22" name="Text 3"/>
          <p:cNvSpPr/>
          <p:nvPr/>
        </p:nvSpPr>
        <p:spPr>
          <a:xfrm>
            <a:off x="952560" y="1685880"/>
            <a:ext cx="15696360" cy="7974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5000"/>
              </a:lnSpc>
              <a:tabLst>
                <a:tab algn="l" pos="0"/>
              </a:tabLst>
            </a:pPr>
            <a:r>
              <a:rPr b="0" lang="en-US" sz="5700" spc="-113" strike="noStrike" u="none">
                <a:solidFill>
                  <a:srgbClr val="1a1a1f"/>
                </a:solidFill>
                <a:effectLst/>
                <a:uFillTx/>
                <a:latin typeface="Arial"/>
                <a:ea typeface="Arial"/>
              </a:rPr>
              <a:t>Voice is a biometric with no controlled sensor.</a:t>
            </a:r>
            <a:endParaRPr b="0" lang="en-US" sz="5700" strike="noStrike" u="none">
              <a:solidFill>
                <a:srgbClr val="000000"/>
              </a:solidFill>
              <a:effectLst/>
              <a:uFillTx/>
              <a:latin typeface="Arial"/>
            </a:endParaRPr>
          </a:p>
        </p:txBody>
      </p:sp>
      <p:sp>
        <p:nvSpPr>
          <p:cNvPr id="23" name="Text 4"/>
          <p:cNvSpPr/>
          <p:nvPr/>
        </p:nvSpPr>
        <p:spPr>
          <a:xfrm>
            <a:off x="952560" y="2979360"/>
            <a:ext cx="14715360" cy="15573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A fingerprint reader or iris camera captures its signal in a tiny, controlled volume. A microphone has no such luxury — whatever else is happening in the room is captured alongside the voice.</a:t>
            </a:r>
            <a:endParaRPr b="0" lang="en-US" sz="2850" strike="noStrike" u="none">
              <a:solidFill>
                <a:srgbClr val="000000"/>
              </a:solidFill>
              <a:effectLst/>
              <a:uFillTx/>
              <a:latin typeface="Arial"/>
            </a:endParaRPr>
          </a:p>
        </p:txBody>
      </p:sp>
      <p:sp>
        <p:nvSpPr>
          <p:cNvPr id="24" name="Text 5"/>
          <p:cNvSpPr/>
          <p:nvPr/>
        </p:nvSpPr>
        <p:spPr>
          <a:xfrm>
            <a:off x="952560" y="4880160"/>
            <a:ext cx="14715360" cy="10504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That noise doesn't just look messy; it measurably pulls genuine and impostor scores toward each other, narrowing the separation that any threshold-based biometric relies on.</a:t>
            </a:r>
            <a:endParaRPr b="0" lang="en-US" sz="2850" strike="noStrike" u="none">
              <a:solidFill>
                <a:srgbClr val="000000"/>
              </a:solidFill>
              <a:effectLst/>
              <a:uFillTx/>
              <a:latin typeface="Arial"/>
            </a:endParaRPr>
          </a:p>
        </p:txBody>
      </p:sp>
      <p:sp>
        <p:nvSpPr>
          <p:cNvPr id="25" name="Text 6"/>
          <p:cNvSpPr/>
          <p:nvPr/>
        </p:nvSpPr>
        <p:spPr>
          <a:xfrm>
            <a:off x="1324080" y="6541200"/>
            <a:ext cx="14715360" cy="543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i="1" lang="en-US" sz="2850" strike="noStrike" u="none">
                <a:solidFill>
                  <a:srgbClr val="1a1a1f"/>
                </a:solidFill>
                <a:effectLst/>
                <a:uFillTx/>
                <a:latin typeface="Arial"/>
                <a:ea typeface="Arial"/>
              </a:rPr>
              <a:t>If you can't control the sensor, can you repair the signal after the fact?</a:t>
            </a:r>
            <a:endParaRPr b="0" lang="en-US" sz="2850" strike="noStrike" u="none">
              <a:solidFill>
                <a:srgbClr val="000000"/>
              </a:solidFill>
              <a:effectLst/>
              <a:uFillTx/>
              <a:latin typeface="Arial"/>
            </a:endParaRPr>
          </a:p>
        </p:txBody>
      </p:sp>
      <p:sp>
        <p:nvSpPr>
          <p:cNvPr id="26" name="Text 7"/>
          <p:cNvSpPr/>
          <p:nvPr/>
        </p:nvSpPr>
        <p:spPr>
          <a:xfrm>
            <a:off x="952560" y="9496440"/>
            <a:ext cx="158436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7" name="Text 8"/>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02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28"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9"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03 / 14</a:t>
            </a:r>
            <a:endParaRPr b="0" lang="en-US" sz="1800" strike="noStrike" u="none">
              <a:solidFill>
                <a:srgbClr val="000000"/>
              </a:solidFill>
              <a:effectLst/>
              <a:uFillTx/>
              <a:latin typeface="Arial"/>
            </a:endParaRPr>
          </a:p>
        </p:txBody>
      </p:sp>
      <p:sp>
        <p:nvSpPr>
          <p:cNvPr id="30"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THE PROBLEM, IN BIOMETRIC TERMS</a:t>
            </a:r>
            <a:endParaRPr b="0" lang="en-US" sz="1800" strike="noStrike" u="none">
              <a:solidFill>
                <a:srgbClr val="000000"/>
              </a:solidFill>
              <a:effectLst/>
              <a:uFillTx/>
              <a:latin typeface="Arial"/>
            </a:endParaRPr>
          </a:p>
        </p:txBody>
      </p:sp>
      <p:sp>
        <p:nvSpPr>
          <p:cNvPr id="31" name="Text 3"/>
          <p:cNvSpPr/>
          <p:nvPr/>
        </p:nvSpPr>
        <p:spPr>
          <a:xfrm>
            <a:off x="952560" y="1685880"/>
            <a:ext cx="15696360" cy="13784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Background noise compresses the gap between genuine and impostor scores.</a:t>
            </a:r>
            <a:endParaRPr b="0" lang="en-US" sz="4800" strike="noStrike" u="none">
              <a:solidFill>
                <a:srgbClr val="000000"/>
              </a:solidFill>
              <a:effectLst/>
              <a:uFillTx/>
              <a:latin typeface="Arial"/>
            </a:endParaRPr>
          </a:p>
        </p:txBody>
      </p:sp>
      <p:sp>
        <p:nvSpPr>
          <p:cNvPr id="32" name="Text 4"/>
          <p:cNvSpPr/>
          <p:nvPr/>
        </p:nvSpPr>
        <p:spPr>
          <a:xfrm>
            <a:off x="952560" y="3789000"/>
            <a:ext cx="5310000" cy="570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01</a:t>
            </a:r>
            <a:endParaRPr b="0" lang="en-US" sz="4200" strike="noStrike" u="none">
              <a:solidFill>
                <a:srgbClr val="000000"/>
              </a:solidFill>
              <a:effectLst/>
              <a:uFillTx/>
              <a:latin typeface="Arial"/>
            </a:endParaRPr>
          </a:p>
        </p:txBody>
      </p:sp>
      <p:sp>
        <p:nvSpPr>
          <p:cNvPr id="33" name="Text 5"/>
          <p:cNvSpPr/>
          <p:nvPr/>
        </p:nvSpPr>
        <p:spPr>
          <a:xfrm>
            <a:off x="952560" y="4474800"/>
            <a:ext cx="5310000" cy="15573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Field audio carries traffic, HVAC, crowd, and microphone artefacts on top of the voice.</a:t>
            </a:r>
            <a:endParaRPr b="0" lang="en-US" sz="2850" strike="noStrike" u="none">
              <a:solidFill>
                <a:srgbClr val="000000"/>
              </a:solidFill>
              <a:effectLst/>
              <a:uFillTx/>
              <a:latin typeface="Arial"/>
            </a:endParaRPr>
          </a:p>
        </p:txBody>
      </p:sp>
      <p:sp>
        <p:nvSpPr>
          <p:cNvPr id="34" name="Text 6"/>
          <p:cNvSpPr/>
          <p:nvPr/>
        </p:nvSpPr>
        <p:spPr>
          <a:xfrm>
            <a:off x="6565680" y="3789000"/>
            <a:ext cx="5310000" cy="570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02</a:t>
            </a:r>
            <a:endParaRPr b="0" lang="en-US" sz="4200" strike="noStrike" u="none">
              <a:solidFill>
                <a:srgbClr val="000000"/>
              </a:solidFill>
              <a:effectLst/>
              <a:uFillTx/>
              <a:latin typeface="Arial"/>
            </a:endParaRPr>
          </a:p>
        </p:txBody>
      </p:sp>
      <p:sp>
        <p:nvSpPr>
          <p:cNvPr id="35" name="Text 7"/>
          <p:cNvSpPr/>
          <p:nvPr/>
        </p:nvSpPr>
        <p:spPr>
          <a:xfrm>
            <a:off x="6565680" y="4474800"/>
            <a:ext cx="5310000" cy="15573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The features we extract start describing the </a:t>
            </a:r>
            <a:r>
              <a:rPr b="0" i="1" lang="en-US" sz="2850" strike="noStrike" u="none">
                <a:solidFill>
                  <a:srgbClr val="1a1a1f"/>
                </a:solidFill>
                <a:effectLst/>
                <a:uFillTx/>
                <a:latin typeface="Arial"/>
                <a:ea typeface="Arial"/>
              </a:rPr>
              <a:t>room </a:t>
            </a:r>
            <a:r>
              <a:rPr b="0" lang="en-US" sz="2850" strike="noStrike" u="none">
                <a:solidFill>
                  <a:srgbClr val="1a1a1f"/>
                </a:solidFill>
                <a:effectLst/>
                <a:uFillTx/>
                <a:latin typeface="Arial"/>
                <a:ea typeface="Arial"/>
              </a:rPr>
              <a:t>alongside the voice.</a:t>
            </a:r>
            <a:endParaRPr b="0" lang="en-US" sz="2850" strike="noStrike" u="none">
              <a:solidFill>
                <a:srgbClr val="000000"/>
              </a:solidFill>
              <a:effectLst/>
              <a:uFillTx/>
              <a:latin typeface="Arial"/>
            </a:endParaRPr>
          </a:p>
        </p:txBody>
      </p:sp>
      <p:sp>
        <p:nvSpPr>
          <p:cNvPr id="36" name="Text 8"/>
          <p:cNvSpPr/>
          <p:nvPr/>
        </p:nvSpPr>
        <p:spPr>
          <a:xfrm>
            <a:off x="12179160" y="3789000"/>
            <a:ext cx="5310000" cy="570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03</a:t>
            </a:r>
            <a:endParaRPr b="0" lang="en-US" sz="4200" strike="noStrike" u="none">
              <a:solidFill>
                <a:srgbClr val="000000"/>
              </a:solidFill>
              <a:effectLst/>
              <a:uFillTx/>
              <a:latin typeface="Arial"/>
            </a:endParaRPr>
          </a:p>
        </p:txBody>
      </p:sp>
      <p:sp>
        <p:nvSpPr>
          <p:cNvPr id="37" name="Text 9"/>
          <p:cNvSpPr/>
          <p:nvPr/>
        </p:nvSpPr>
        <p:spPr>
          <a:xfrm>
            <a:off x="12179160" y="4474800"/>
            <a:ext cx="5310000" cy="15573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Two recordings of the same person in different places can look like two different people.</a:t>
            </a:r>
            <a:endParaRPr b="0" lang="en-US" sz="2850" strike="noStrike" u="none">
              <a:solidFill>
                <a:srgbClr val="000000"/>
              </a:solidFill>
              <a:effectLst/>
              <a:uFillTx/>
              <a:latin typeface="Arial"/>
            </a:endParaRPr>
          </a:p>
        </p:txBody>
      </p:sp>
      <p:sp>
        <p:nvSpPr>
          <p:cNvPr id="38" name="Text 10"/>
          <p:cNvSpPr/>
          <p:nvPr/>
        </p:nvSpPr>
        <p:spPr>
          <a:xfrm>
            <a:off x="952560" y="9496440"/>
            <a:ext cx="158436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39" name="Text 11"/>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03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40"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45" strike="noStrike" u="none">
                <a:solidFill>
                  <a:srgbClr val="6b6b75"/>
                </a:solidFill>
                <a:effectLst/>
                <a:uFillTx/>
                <a:latin typeface="Arial"/>
                <a:ea typeface="Arial"/>
              </a:rPr>
              <a:t>BACKGROUND</a:t>
            </a:r>
            <a:endParaRPr b="0" lang="en-US" sz="1800" strike="noStrike" u="none">
              <a:solidFill>
                <a:srgbClr val="000000"/>
              </a:solidFill>
              <a:effectLst/>
              <a:uFillTx/>
              <a:latin typeface="Arial"/>
            </a:endParaRPr>
          </a:p>
        </p:txBody>
      </p:sp>
      <p:sp>
        <p:nvSpPr>
          <p:cNvPr id="41"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04 / 14</a:t>
            </a:r>
            <a:endParaRPr b="0" lang="en-US" sz="1800" strike="noStrike" u="none">
              <a:solidFill>
                <a:srgbClr val="000000"/>
              </a:solidFill>
              <a:effectLst/>
              <a:uFillTx/>
              <a:latin typeface="Arial"/>
            </a:endParaRPr>
          </a:p>
        </p:txBody>
      </p:sp>
      <p:sp>
        <p:nvSpPr>
          <p:cNvPr id="42"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BACKGROUND · HOW VOICE IS REPRESENTED</a:t>
            </a:r>
            <a:endParaRPr b="0" lang="en-US" sz="1800" strike="noStrike" u="none">
              <a:solidFill>
                <a:srgbClr val="000000"/>
              </a:solidFill>
              <a:effectLst/>
              <a:uFillTx/>
              <a:latin typeface="Arial"/>
            </a:endParaRPr>
          </a:p>
        </p:txBody>
      </p:sp>
      <p:sp>
        <p:nvSpPr>
          <p:cNvPr id="43" name="Text 3"/>
          <p:cNvSpPr/>
          <p:nvPr/>
        </p:nvSpPr>
        <p:spPr>
          <a:xfrm>
            <a:off x="952560" y="1685880"/>
            <a:ext cx="16677720" cy="70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Identity doesn't live in the waveform — it lives in the spectrum.</a:t>
            </a:r>
            <a:endParaRPr b="0" lang="en-US" sz="4800" strike="noStrike" u="none">
              <a:solidFill>
                <a:srgbClr val="000000"/>
              </a:solidFill>
              <a:effectLst/>
              <a:uFillTx/>
              <a:latin typeface="Arial"/>
            </a:endParaRPr>
          </a:p>
        </p:txBody>
      </p:sp>
      <p:sp>
        <p:nvSpPr>
          <p:cNvPr id="44" name="Text 4"/>
          <p:cNvSpPr/>
          <p:nvPr/>
        </p:nvSpPr>
        <p:spPr>
          <a:xfrm>
            <a:off x="952560" y="3270960"/>
            <a:ext cx="809316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SPECTROGRAM</a:t>
            </a:r>
            <a:endParaRPr b="0" lang="en-US" sz="2100" strike="noStrike" u="none">
              <a:solidFill>
                <a:srgbClr val="000000"/>
              </a:solidFill>
              <a:effectLst/>
              <a:uFillTx/>
              <a:latin typeface="Arial"/>
            </a:endParaRPr>
          </a:p>
        </p:txBody>
      </p:sp>
      <p:sp>
        <p:nvSpPr>
          <p:cNvPr id="45" name="Text 5"/>
          <p:cNvSpPr/>
          <p:nvPr/>
        </p:nvSpPr>
        <p:spPr>
          <a:xfrm>
            <a:off x="952560" y="3821400"/>
            <a:ext cx="8093160" cy="1446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A short-time Fourier transform converts a waveform into a spectrogram — time on the x-axis, frequency on the y-axis, brightness showing energy at each frequency.</a:t>
            </a:r>
            <a:endParaRPr b="0" lang="en-US" sz="2550" strike="noStrike" u="none">
              <a:solidFill>
                <a:srgbClr val="000000"/>
              </a:solidFill>
              <a:effectLst/>
              <a:uFillTx/>
              <a:latin typeface="Arial"/>
            </a:endParaRPr>
          </a:p>
        </p:txBody>
      </p:sp>
      <p:sp>
        <p:nvSpPr>
          <p:cNvPr id="46" name="Text 6"/>
          <p:cNvSpPr/>
          <p:nvPr/>
        </p:nvSpPr>
        <p:spPr>
          <a:xfrm>
            <a:off x="952560" y="5496840"/>
            <a:ext cx="8093160" cy="1446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The horizontal stripes are </a:t>
            </a:r>
            <a:r>
              <a:rPr b="0" i="1" lang="en-US" sz="2550" strike="noStrike" u="none">
                <a:solidFill>
                  <a:srgbClr val="1a1a1f"/>
                </a:solidFill>
                <a:effectLst/>
                <a:uFillTx/>
                <a:latin typeface="Arial"/>
                <a:ea typeface="Arial"/>
              </a:rPr>
              <a:t>harmonics </a:t>
            </a:r>
            <a:r>
              <a:rPr b="0" lang="en-US" sz="2550" strike="noStrike" u="none">
                <a:solidFill>
                  <a:srgbClr val="1a1a1f"/>
                </a:solidFill>
                <a:effectLst/>
                <a:uFillTx/>
                <a:latin typeface="Arial"/>
                <a:ea typeface="Arial"/>
              </a:rPr>
              <a:t>of the speaker's pitch. Their spacing and the envelope above them carry most of the identifying information.</a:t>
            </a:r>
            <a:endParaRPr b="0" lang="en-US" sz="2550" strike="noStrike" u="none">
              <a:solidFill>
                <a:srgbClr val="000000"/>
              </a:solidFill>
              <a:effectLst/>
              <a:uFillTx/>
              <a:latin typeface="Arial"/>
            </a:endParaRPr>
          </a:p>
        </p:txBody>
      </p:sp>
      <p:sp>
        <p:nvSpPr>
          <p:cNvPr id="47" name="Text 7"/>
          <p:cNvSpPr/>
          <p:nvPr/>
        </p:nvSpPr>
        <p:spPr>
          <a:xfrm>
            <a:off x="9477360" y="3270960"/>
            <a:ext cx="809316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MFCCS — OUR FEATURE TEMPLATE</a:t>
            </a:r>
            <a:endParaRPr b="0" lang="en-US" sz="2100" strike="noStrike" u="none">
              <a:solidFill>
                <a:srgbClr val="000000"/>
              </a:solidFill>
              <a:effectLst/>
              <a:uFillTx/>
              <a:latin typeface="Arial"/>
            </a:endParaRPr>
          </a:p>
        </p:txBody>
      </p:sp>
      <p:sp>
        <p:nvSpPr>
          <p:cNvPr id="48" name="Text 8"/>
          <p:cNvSpPr/>
          <p:nvPr/>
        </p:nvSpPr>
        <p:spPr>
          <a:xfrm>
            <a:off x="9477360" y="3821400"/>
            <a:ext cx="8093160" cy="1446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We compress that spectrum into </a:t>
            </a:r>
            <a:r>
              <a:rPr b="1" lang="en-US" sz="2550" strike="noStrike" u="none">
                <a:solidFill>
                  <a:srgbClr val="1a1a1f"/>
                </a:solidFill>
                <a:effectLst/>
                <a:uFillTx/>
                <a:latin typeface="Arial"/>
                <a:ea typeface="Arial"/>
              </a:rPr>
              <a:t>13 MFCCs </a:t>
            </a:r>
            <a:r>
              <a:rPr b="0" lang="en-US" sz="2550" strike="noStrike" u="none">
                <a:solidFill>
                  <a:srgbClr val="1a1a1f"/>
                </a:solidFill>
                <a:effectLst/>
                <a:uFillTx/>
                <a:latin typeface="Arial"/>
                <a:ea typeface="Arial"/>
              </a:rPr>
              <a:t>: the energy in 13 frequency bands, warped to the </a:t>
            </a:r>
            <a:r>
              <a:rPr b="0" i="1" lang="en-US" sz="2550" strike="noStrike" u="none">
                <a:solidFill>
                  <a:srgbClr val="1a1a1f"/>
                </a:solidFill>
                <a:effectLst/>
                <a:uFillTx/>
                <a:latin typeface="Arial"/>
                <a:ea typeface="Arial"/>
              </a:rPr>
              <a:t>mel scale </a:t>
            </a:r>
            <a:r>
              <a:rPr b="0" lang="en-US" sz="2550" strike="noStrike" u="none">
                <a:solidFill>
                  <a:srgbClr val="1a1a1f"/>
                </a:solidFill>
                <a:effectLst/>
                <a:uFillTx/>
                <a:latin typeface="Arial"/>
                <a:ea typeface="Arial"/>
              </a:rPr>
              <a:t>— the frequency axis humans actually perceive linearly.</a:t>
            </a:r>
            <a:endParaRPr b="0" lang="en-US" sz="2550" strike="noStrike" u="none">
              <a:solidFill>
                <a:srgbClr val="000000"/>
              </a:solidFill>
              <a:effectLst/>
              <a:uFillTx/>
              <a:latin typeface="Arial"/>
            </a:endParaRPr>
          </a:p>
        </p:txBody>
      </p:sp>
      <p:sp>
        <p:nvSpPr>
          <p:cNvPr id="49" name="Text 9"/>
          <p:cNvSpPr/>
          <p:nvPr/>
        </p:nvSpPr>
        <p:spPr>
          <a:xfrm>
            <a:off x="9477360" y="5496840"/>
            <a:ext cx="8093160" cy="19155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They discard pitch and keep the spectral envelope that characterizes the voice. They play the same role a minutiae extractor plays for a fingerprint — a compact, comparable template.</a:t>
            </a:r>
            <a:endParaRPr b="0" lang="en-US" sz="2550" strike="noStrike" u="none">
              <a:solidFill>
                <a:srgbClr val="000000"/>
              </a:solidFill>
              <a:effectLst/>
              <a:uFillTx/>
              <a:latin typeface="Arial"/>
            </a:endParaRPr>
          </a:p>
        </p:txBody>
      </p:sp>
      <p:sp>
        <p:nvSpPr>
          <p:cNvPr id="50" name="Text 10"/>
          <p:cNvSpPr/>
          <p:nvPr/>
        </p:nvSpPr>
        <p:spPr>
          <a:xfrm>
            <a:off x="952560" y="9496440"/>
            <a:ext cx="419508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BACKGROUND · REPRESENTATION</a:t>
            </a:r>
            <a:endParaRPr b="0" lang="en-US" sz="1800" strike="noStrike" u="none">
              <a:solidFill>
                <a:srgbClr val="000000"/>
              </a:solidFill>
              <a:effectLst/>
              <a:uFillTx/>
              <a:latin typeface="Arial"/>
            </a:endParaRPr>
          </a:p>
        </p:txBody>
      </p:sp>
      <p:sp>
        <p:nvSpPr>
          <p:cNvPr id="51" name="Text 11"/>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04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52"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45" strike="noStrike" u="none">
                <a:solidFill>
                  <a:srgbClr val="6b6b75"/>
                </a:solidFill>
                <a:effectLst/>
                <a:uFillTx/>
                <a:latin typeface="Arial"/>
                <a:ea typeface="Arial"/>
              </a:rPr>
              <a:t>BACKGROUND</a:t>
            </a:r>
            <a:endParaRPr b="0" lang="en-US" sz="1800" strike="noStrike" u="none">
              <a:solidFill>
                <a:srgbClr val="000000"/>
              </a:solidFill>
              <a:effectLst/>
              <a:uFillTx/>
              <a:latin typeface="Arial"/>
            </a:endParaRPr>
          </a:p>
        </p:txBody>
      </p:sp>
      <p:sp>
        <p:nvSpPr>
          <p:cNvPr id="53"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05 / 14</a:t>
            </a:r>
            <a:endParaRPr b="0" lang="en-US" sz="1800" strike="noStrike" u="none">
              <a:solidFill>
                <a:srgbClr val="000000"/>
              </a:solidFill>
              <a:effectLst/>
              <a:uFillTx/>
              <a:latin typeface="Arial"/>
            </a:endParaRPr>
          </a:p>
        </p:txBody>
      </p:sp>
      <p:sp>
        <p:nvSpPr>
          <p:cNvPr id="54"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BACKGROUND · DECISION PIPELINE</a:t>
            </a:r>
            <a:endParaRPr b="0" lang="en-US" sz="1800" strike="noStrike" u="none">
              <a:solidFill>
                <a:srgbClr val="000000"/>
              </a:solidFill>
              <a:effectLst/>
              <a:uFillTx/>
              <a:latin typeface="Arial"/>
            </a:endParaRPr>
          </a:p>
        </p:txBody>
      </p:sp>
      <p:sp>
        <p:nvSpPr>
          <p:cNvPr id="55" name="Text 3"/>
          <p:cNvSpPr/>
          <p:nvPr/>
        </p:nvSpPr>
        <p:spPr>
          <a:xfrm>
            <a:off x="952560" y="1685880"/>
            <a:ext cx="16677720" cy="13784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A standard biometric pipeline — with audio features as the template.</a:t>
            </a:r>
            <a:endParaRPr b="0" lang="en-US" sz="4800" strike="noStrike" u="none">
              <a:solidFill>
                <a:srgbClr val="000000"/>
              </a:solidFill>
              <a:effectLst/>
              <a:uFillTx/>
              <a:latin typeface="Arial"/>
            </a:endParaRPr>
          </a:p>
        </p:txBody>
      </p:sp>
      <p:sp>
        <p:nvSpPr>
          <p:cNvPr id="56" name="Text 4"/>
          <p:cNvSpPr/>
          <p:nvPr/>
        </p:nvSpPr>
        <p:spPr>
          <a:xfrm>
            <a:off x="952560" y="3712680"/>
            <a:ext cx="804420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ENROLLMENT</a:t>
            </a:r>
            <a:endParaRPr b="0" lang="en-US" sz="2100" strike="noStrike" u="none">
              <a:solidFill>
                <a:srgbClr val="000000"/>
              </a:solidFill>
              <a:effectLst/>
              <a:uFillTx/>
              <a:latin typeface="Arial"/>
            </a:endParaRPr>
          </a:p>
        </p:txBody>
      </p:sp>
      <p:sp>
        <p:nvSpPr>
          <p:cNvPr id="57" name="Text 5"/>
          <p:cNvSpPr/>
          <p:nvPr/>
        </p:nvSpPr>
        <p:spPr>
          <a:xfrm>
            <a:off x="952560" y="4263120"/>
            <a:ext cx="8044200" cy="543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Extract MFCCs from </a:t>
            </a:r>
            <a:r>
              <a:rPr b="1" lang="en-US" sz="2850" strike="noStrike" u="none">
                <a:solidFill>
                  <a:srgbClr val="1a1a1f"/>
                </a:solidFill>
                <a:effectLst/>
                <a:uFillTx/>
                <a:latin typeface="Arial"/>
                <a:ea typeface="Arial"/>
              </a:rPr>
              <a:t>5 clean clips </a:t>
            </a:r>
            <a:r>
              <a:rPr b="0" lang="en-US" sz="2850" strike="noStrike" u="none">
                <a:solidFill>
                  <a:srgbClr val="1a1a1f"/>
                </a:solidFill>
                <a:effectLst/>
                <a:uFillTx/>
                <a:latin typeface="Arial"/>
                <a:ea typeface="Arial"/>
              </a:rPr>
              <a:t>per speaker.</a:t>
            </a:r>
            <a:endParaRPr b="0" lang="en-US" sz="2850" strike="noStrike" u="none">
              <a:solidFill>
                <a:srgbClr val="000000"/>
              </a:solidFill>
              <a:effectLst/>
              <a:uFillTx/>
              <a:latin typeface="Arial"/>
            </a:endParaRPr>
          </a:p>
        </p:txBody>
      </p:sp>
      <p:sp>
        <p:nvSpPr>
          <p:cNvPr id="58" name="Text 6"/>
          <p:cNvSpPr/>
          <p:nvPr/>
        </p:nvSpPr>
        <p:spPr>
          <a:xfrm>
            <a:off x="952560" y="4998240"/>
            <a:ext cx="8044200" cy="10504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Average them into a single </a:t>
            </a:r>
            <a:r>
              <a:rPr b="1" lang="en-US" sz="2850" strike="noStrike" u="none">
                <a:solidFill>
                  <a:srgbClr val="1a1a1f"/>
                </a:solidFill>
                <a:effectLst/>
                <a:uFillTx/>
                <a:latin typeface="Arial"/>
                <a:ea typeface="Arial"/>
              </a:rPr>
              <a:t>centroid </a:t>
            </a:r>
            <a:r>
              <a:rPr b="0" lang="en-US" sz="2850" strike="noStrike" u="none">
                <a:solidFill>
                  <a:srgbClr val="1a1a1f"/>
                </a:solidFill>
                <a:effectLst/>
                <a:uFillTx/>
                <a:latin typeface="Arial"/>
                <a:ea typeface="Arial"/>
              </a:rPr>
              <a:t>— the reference template for that identity.</a:t>
            </a:r>
            <a:endParaRPr b="0" lang="en-US" sz="2850" strike="noStrike" u="none">
              <a:solidFill>
                <a:srgbClr val="000000"/>
              </a:solidFill>
              <a:effectLst/>
              <a:uFillTx/>
              <a:latin typeface="Arial"/>
            </a:endParaRPr>
          </a:p>
        </p:txBody>
      </p:sp>
      <p:sp>
        <p:nvSpPr>
          <p:cNvPr id="59" name="Text 7"/>
          <p:cNvSpPr/>
          <p:nvPr/>
        </p:nvSpPr>
        <p:spPr>
          <a:xfrm>
            <a:off x="952560" y="6240240"/>
            <a:ext cx="8044200" cy="543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Stored once, per speaker.</a:t>
            </a:r>
            <a:endParaRPr b="0" lang="en-US" sz="2850" strike="noStrike" u="none">
              <a:solidFill>
                <a:srgbClr val="000000"/>
              </a:solidFill>
              <a:effectLst/>
              <a:uFillTx/>
              <a:latin typeface="Arial"/>
            </a:endParaRPr>
          </a:p>
        </p:txBody>
      </p:sp>
      <p:sp>
        <p:nvSpPr>
          <p:cNvPr id="60" name="Text 8"/>
          <p:cNvSpPr/>
          <p:nvPr/>
        </p:nvSpPr>
        <p:spPr>
          <a:xfrm>
            <a:off x="9524880" y="3712680"/>
            <a:ext cx="804420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VERIFICATION</a:t>
            </a:r>
            <a:endParaRPr b="0" lang="en-US" sz="2100" strike="noStrike" u="none">
              <a:solidFill>
                <a:srgbClr val="000000"/>
              </a:solidFill>
              <a:effectLst/>
              <a:uFillTx/>
              <a:latin typeface="Arial"/>
            </a:endParaRPr>
          </a:p>
        </p:txBody>
      </p:sp>
      <p:sp>
        <p:nvSpPr>
          <p:cNvPr id="61" name="Text 9"/>
          <p:cNvSpPr/>
          <p:nvPr/>
        </p:nvSpPr>
        <p:spPr>
          <a:xfrm>
            <a:off x="9524880" y="4263120"/>
            <a:ext cx="8044200" cy="543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Extract MFCCs from the incoming clip.</a:t>
            </a:r>
            <a:endParaRPr b="0" lang="en-US" sz="2850" strike="noStrike" u="none">
              <a:solidFill>
                <a:srgbClr val="000000"/>
              </a:solidFill>
              <a:effectLst/>
              <a:uFillTx/>
              <a:latin typeface="Arial"/>
            </a:endParaRPr>
          </a:p>
        </p:txBody>
      </p:sp>
      <p:sp>
        <p:nvSpPr>
          <p:cNvPr id="62" name="Text 10"/>
          <p:cNvSpPr/>
          <p:nvPr/>
        </p:nvSpPr>
        <p:spPr>
          <a:xfrm>
            <a:off x="9524880" y="4998240"/>
            <a:ext cx="8044200" cy="10504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Compute </a:t>
            </a:r>
            <a:r>
              <a:rPr b="1" lang="en-US" sz="2850" strike="noStrike" u="none">
                <a:solidFill>
                  <a:srgbClr val="1a1a1f"/>
                </a:solidFill>
                <a:effectLst/>
                <a:uFillTx/>
                <a:latin typeface="Arial"/>
                <a:ea typeface="Arial"/>
              </a:rPr>
              <a:t>Euclidean distance </a:t>
            </a:r>
            <a:r>
              <a:rPr b="0" lang="en-US" sz="2850" strike="noStrike" u="none">
                <a:solidFill>
                  <a:srgbClr val="1a1a1f"/>
                </a:solidFill>
                <a:effectLst/>
                <a:uFillTx/>
                <a:latin typeface="Arial"/>
                <a:ea typeface="Arial"/>
              </a:rPr>
              <a:t>to the stored centroid.</a:t>
            </a:r>
            <a:endParaRPr b="0" lang="en-US" sz="2850" strike="noStrike" u="none">
              <a:solidFill>
                <a:srgbClr val="000000"/>
              </a:solidFill>
              <a:effectLst/>
              <a:uFillTx/>
              <a:latin typeface="Arial"/>
            </a:endParaRPr>
          </a:p>
        </p:txBody>
      </p:sp>
      <p:sp>
        <p:nvSpPr>
          <p:cNvPr id="63" name="Text 11"/>
          <p:cNvSpPr/>
          <p:nvPr/>
        </p:nvSpPr>
        <p:spPr>
          <a:xfrm>
            <a:off x="9524880" y="6240240"/>
            <a:ext cx="8044200" cy="543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Below threshold → accept. Above → reject.</a:t>
            </a:r>
            <a:endParaRPr b="0" lang="en-US" sz="2850" strike="noStrike" u="none">
              <a:solidFill>
                <a:srgbClr val="000000"/>
              </a:solidFill>
              <a:effectLst/>
              <a:uFillTx/>
              <a:latin typeface="Arial"/>
            </a:endParaRPr>
          </a:p>
        </p:txBody>
      </p:sp>
      <p:sp>
        <p:nvSpPr>
          <p:cNvPr id="64" name="Shape 12"/>
          <p:cNvSpPr/>
          <p:nvPr/>
        </p:nvSpPr>
        <p:spPr>
          <a:xfrm>
            <a:off x="952560" y="7128000"/>
            <a:ext cx="16382160" cy="8640"/>
          </a:xfrm>
          <a:prstGeom prst="rect">
            <a:avLst/>
          </a:prstGeom>
          <a:solidFill>
            <a:srgbClr val="c9c2b2"/>
          </a:solidFill>
          <a:ln w="0">
            <a:noFill/>
          </a:ln>
        </p:spPr>
        <p:style>
          <a:lnRef idx="0"/>
          <a:fillRef idx="0"/>
          <a:effectRef idx="0"/>
          <a:fontRef idx="minor"/>
        </p:style>
        <p:txBody>
          <a:bodyPr lIns="90000" rIns="90000" tIns="-35640" bIns="-35640" anchor="t">
            <a:noAutofit/>
          </a:bodyPr>
          <a:p>
            <a:pPr>
              <a:lnSpc>
                <a:spcPct val="100000"/>
              </a:lnSpc>
            </a:pPr>
            <a:endParaRPr b="0" lang="en-US" sz="1800" strike="noStrike" u="none">
              <a:solidFill>
                <a:srgbClr val="000000"/>
              </a:solidFill>
              <a:effectLst/>
              <a:uFillTx/>
              <a:latin typeface="Arial"/>
            </a:endParaRPr>
          </a:p>
        </p:txBody>
      </p:sp>
      <p:sp>
        <p:nvSpPr>
          <p:cNvPr id="65" name="Text 13"/>
          <p:cNvSpPr/>
          <p:nvPr/>
        </p:nvSpPr>
        <p:spPr>
          <a:xfrm>
            <a:off x="952560" y="7308720"/>
            <a:ext cx="1687392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trike="noStrike" u="none">
                <a:solidFill>
                  <a:srgbClr val="6b6b75"/>
                </a:solidFill>
                <a:effectLst/>
                <a:uFillTx/>
                <a:latin typeface="Arial"/>
                <a:ea typeface="Arial"/>
              </a:rPr>
              <a:t>Same decision logic as any threshold-based biometric — only the template is built from sound.</a:t>
            </a:r>
            <a:endParaRPr b="0" lang="en-US" sz="2100" strike="noStrike" u="none">
              <a:solidFill>
                <a:srgbClr val="000000"/>
              </a:solidFill>
              <a:effectLst/>
              <a:uFillTx/>
              <a:latin typeface="Arial"/>
            </a:endParaRPr>
          </a:p>
        </p:txBody>
      </p:sp>
      <p:sp>
        <p:nvSpPr>
          <p:cNvPr id="66" name="Text 14"/>
          <p:cNvSpPr/>
          <p:nvPr/>
        </p:nvSpPr>
        <p:spPr>
          <a:xfrm>
            <a:off x="952560" y="9496440"/>
            <a:ext cx="32626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BACKGROUND · PIPELINE</a:t>
            </a:r>
            <a:endParaRPr b="0" lang="en-US" sz="1800" strike="noStrike" u="none">
              <a:solidFill>
                <a:srgbClr val="000000"/>
              </a:solidFill>
              <a:effectLst/>
              <a:uFillTx/>
              <a:latin typeface="Arial"/>
            </a:endParaRPr>
          </a:p>
        </p:txBody>
      </p:sp>
      <p:sp>
        <p:nvSpPr>
          <p:cNvPr id="67" name="Text 15"/>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05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
          <p:cNvSpPr/>
          <p:nvPr/>
        </p:nvSpPr>
        <p:spPr>
          <a:xfrm>
            <a:off x="0" y="0"/>
            <a:ext cx="18287640" cy="10286640"/>
          </a:xfrm>
          <a:prstGeom prst="rect">
            <a:avLst/>
          </a:prstGeom>
          <a:solidFill>
            <a:srgbClr val="4a886d"/>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trike="noStrike" u="none">
              <a:solidFill>
                <a:srgbClr val="ffffff"/>
              </a:solidFill>
              <a:effectLst/>
              <a:uFillTx/>
              <a:latin typeface="Arial"/>
            </a:endParaRPr>
          </a:p>
        </p:txBody>
      </p:sp>
      <p:sp>
        <p:nvSpPr>
          <p:cNvPr id="69" name="Text 0"/>
          <p:cNvSpPr/>
          <p:nvPr/>
        </p:nvSpPr>
        <p:spPr>
          <a:xfrm>
            <a:off x="952560" y="457200"/>
            <a:ext cx="29174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RESEARCH QUESTION</a:t>
            </a:r>
            <a:endParaRPr b="0" lang="en-US" sz="1800" strike="noStrike" u="none">
              <a:solidFill>
                <a:srgbClr val="000000"/>
              </a:solidFill>
              <a:effectLst/>
              <a:uFillTx/>
              <a:latin typeface="Arial"/>
            </a:endParaRPr>
          </a:p>
        </p:txBody>
      </p:sp>
      <p:sp>
        <p:nvSpPr>
          <p:cNvPr id="70"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06 / 14</a:t>
            </a:r>
            <a:endParaRPr b="0" lang="en-US" sz="1800" strike="noStrike" u="none">
              <a:solidFill>
                <a:srgbClr val="000000"/>
              </a:solidFill>
              <a:effectLst/>
              <a:uFillTx/>
              <a:latin typeface="Arial"/>
            </a:endParaRPr>
          </a:p>
        </p:txBody>
      </p:sp>
      <p:sp>
        <p:nvSpPr>
          <p:cNvPr id="71" name="Shape 2"/>
          <p:cNvSpPr/>
          <p:nvPr/>
        </p:nvSpPr>
        <p:spPr>
          <a:xfrm>
            <a:off x="952560" y="3517560"/>
            <a:ext cx="2429280" cy="504000"/>
          </a:xfrm>
          <a:prstGeom prst="roundRect">
            <a:avLst>
              <a:gd name="adj" fmla="val 50000"/>
            </a:avLst>
          </a:prstGeom>
          <a:noFill/>
          <a:ln w="9525">
            <a:solidFill>
              <a:srgbClr val="f4f1ea"/>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72" name="Text 3"/>
          <p:cNvSpPr/>
          <p:nvPr/>
        </p:nvSpPr>
        <p:spPr>
          <a:xfrm>
            <a:off x="1152360" y="3622320"/>
            <a:ext cx="210564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252" strike="noStrike" u="none">
                <a:solidFill>
                  <a:srgbClr val="f4f1ea"/>
                </a:solidFill>
                <a:effectLst/>
                <a:uFillTx/>
                <a:latin typeface="Arial"/>
                <a:ea typeface="Arial"/>
              </a:rPr>
              <a:t>THE QUESTION</a:t>
            </a:r>
            <a:endParaRPr b="0" lang="en-US" sz="1800" strike="noStrike" u="none">
              <a:solidFill>
                <a:srgbClr val="000000"/>
              </a:solidFill>
              <a:effectLst/>
              <a:uFillTx/>
              <a:latin typeface="Arial"/>
            </a:endParaRPr>
          </a:p>
        </p:txBody>
      </p:sp>
      <p:sp>
        <p:nvSpPr>
          <p:cNvPr id="73" name="Text 4"/>
          <p:cNvSpPr/>
          <p:nvPr/>
        </p:nvSpPr>
        <p:spPr>
          <a:xfrm>
            <a:off x="952560" y="4403520"/>
            <a:ext cx="15696360" cy="24033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5000"/>
              </a:lnSpc>
              <a:tabLst>
                <a:tab algn="l" pos="0"/>
              </a:tabLst>
            </a:pPr>
            <a:r>
              <a:rPr b="0" lang="en-US" sz="5400" spc="-82" strike="noStrike" u="none">
                <a:solidFill>
                  <a:srgbClr val="f4f1ea"/>
                </a:solidFill>
                <a:effectLst/>
                <a:uFillTx/>
                <a:latin typeface="Arial"/>
                <a:ea typeface="Arial"/>
              </a:rPr>
              <a:t>Does cleaning a noisy voice sample before feature extraction improve speaker verification — and does it improve every error rate, or trade one for another?</a:t>
            </a:r>
            <a:endParaRPr b="0" lang="en-US" sz="5400" strike="noStrike" u="none">
              <a:solidFill>
                <a:srgbClr val="000000"/>
              </a:solidFill>
              <a:effectLst/>
              <a:uFillTx/>
              <a:latin typeface="Arial"/>
            </a:endParaRPr>
          </a:p>
        </p:txBody>
      </p:sp>
      <p:sp>
        <p:nvSpPr>
          <p:cNvPr id="74" name="Text 5"/>
          <p:cNvSpPr/>
          <p:nvPr/>
        </p:nvSpPr>
        <p:spPr>
          <a:xfrm>
            <a:off x="952560" y="9496440"/>
            <a:ext cx="2640960" cy="33264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RESEARCH QUESTION</a:t>
            </a:r>
            <a:endParaRPr b="0" lang="en-US" sz="1800" strike="noStrike" u="none">
              <a:solidFill>
                <a:srgbClr val="000000"/>
              </a:solidFill>
              <a:effectLst/>
              <a:uFillTx/>
              <a:latin typeface="Arial"/>
            </a:endParaRPr>
          </a:p>
        </p:txBody>
      </p:sp>
      <p:sp>
        <p:nvSpPr>
          <p:cNvPr id="75" name="Text 6"/>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06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76" name=""/>
          <p:cNvSpPr/>
          <p:nvPr/>
        </p:nvSpPr>
        <p:spPr>
          <a:xfrm>
            <a:off x="7277760" y="4601160"/>
            <a:ext cx="3466440" cy="656640"/>
          </a:xfrm>
          <a:prstGeom prst="rect">
            <a:avLst/>
          </a:prstGeom>
          <a:solidFill>
            <a:srgbClr val="4a886d"/>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ffffff"/>
              </a:solidFill>
              <a:effectLst/>
              <a:uFillTx/>
              <a:latin typeface="Arial"/>
            </a:endParaRPr>
          </a:p>
        </p:txBody>
      </p:sp>
      <p:sp>
        <p:nvSpPr>
          <p:cNvPr id="77" name="Text 0"/>
          <p:cNvSpPr/>
          <p:nvPr/>
        </p:nvSpPr>
        <p:spPr>
          <a:xfrm>
            <a:off x="952560" y="457200"/>
            <a:ext cx="1354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78"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07 / 14</a:t>
            </a:r>
            <a:endParaRPr b="0" lang="en-US" sz="1800" strike="noStrike" u="none">
              <a:solidFill>
                <a:srgbClr val="000000"/>
              </a:solidFill>
              <a:effectLst/>
              <a:uFillTx/>
              <a:latin typeface="Arial"/>
            </a:endParaRPr>
          </a:p>
        </p:txBody>
      </p:sp>
      <p:sp>
        <p:nvSpPr>
          <p:cNvPr id="79"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METHODS</a:t>
            </a:r>
            <a:endParaRPr b="0" lang="en-US" sz="1800" strike="noStrike" u="none">
              <a:solidFill>
                <a:srgbClr val="000000"/>
              </a:solidFill>
              <a:effectLst/>
              <a:uFillTx/>
              <a:latin typeface="Arial"/>
            </a:endParaRPr>
          </a:p>
        </p:txBody>
      </p:sp>
      <p:sp>
        <p:nvSpPr>
          <p:cNvPr id="80" name="Text 3"/>
          <p:cNvSpPr/>
          <p:nvPr/>
        </p:nvSpPr>
        <p:spPr>
          <a:xfrm>
            <a:off x="952560" y="1685880"/>
            <a:ext cx="16677720" cy="13784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Same pipeline, two input tracks. Data collected ourselves on campus.</a:t>
            </a:r>
            <a:endParaRPr b="0" lang="en-US" sz="4800" strike="noStrike" u="none">
              <a:solidFill>
                <a:srgbClr val="000000"/>
              </a:solidFill>
              <a:effectLst/>
              <a:uFillTx/>
              <a:latin typeface="Arial"/>
            </a:endParaRPr>
          </a:p>
        </p:txBody>
      </p:sp>
      <p:sp>
        <p:nvSpPr>
          <p:cNvPr id="81" name="Text 4"/>
          <p:cNvSpPr/>
          <p:nvPr/>
        </p:nvSpPr>
        <p:spPr>
          <a:xfrm>
            <a:off x="952560" y="3593520"/>
            <a:ext cx="2075760" cy="6278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TRACK A · RAW</a:t>
            </a:r>
            <a:endParaRPr b="0" lang="en-US" sz="1800" strike="noStrike" u="none">
              <a:solidFill>
                <a:srgbClr val="000000"/>
              </a:solidFill>
              <a:effectLst/>
              <a:uFillTx/>
              <a:latin typeface="Arial"/>
            </a:endParaRPr>
          </a:p>
        </p:txBody>
      </p:sp>
      <p:sp>
        <p:nvSpPr>
          <p:cNvPr id="82" name="Shape 5"/>
          <p:cNvSpPr/>
          <p:nvPr/>
        </p:nvSpPr>
        <p:spPr>
          <a:xfrm>
            <a:off x="3086280" y="3560400"/>
            <a:ext cx="3466440" cy="65664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83" name="Text 6"/>
          <p:cNvSpPr/>
          <p:nvPr/>
        </p:nvSpPr>
        <p:spPr>
          <a:xfrm>
            <a:off x="3220560" y="374112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Noisy audio</a:t>
            </a:r>
            <a:endParaRPr b="0" lang="en-US" sz="1950" strike="noStrike" u="none">
              <a:solidFill>
                <a:srgbClr val="000000"/>
              </a:solidFill>
              <a:effectLst/>
              <a:uFillTx/>
              <a:latin typeface="Arial"/>
            </a:endParaRPr>
          </a:p>
        </p:txBody>
      </p:sp>
      <p:sp>
        <p:nvSpPr>
          <p:cNvPr id="84" name="Text 7"/>
          <p:cNvSpPr/>
          <p:nvPr/>
        </p:nvSpPr>
        <p:spPr>
          <a:xfrm>
            <a:off x="6648480" y="372204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85" name="Shape 8"/>
          <p:cNvSpPr/>
          <p:nvPr/>
        </p:nvSpPr>
        <p:spPr>
          <a:xfrm>
            <a:off x="7277760" y="3560400"/>
            <a:ext cx="3466440" cy="656640"/>
          </a:xfrm>
          <a:prstGeom prst="rect">
            <a:avLst/>
          </a:prstGeom>
          <a:solidFill>
            <a:srgbClr val="ece7dc"/>
          </a:solidFill>
          <a:ln w="9525">
            <a:solidFill>
              <a:srgbClr val="1a1a1f"/>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86" name="Text 9"/>
          <p:cNvSpPr/>
          <p:nvPr/>
        </p:nvSpPr>
        <p:spPr>
          <a:xfrm>
            <a:off x="7335360" y="374112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MFCC template</a:t>
            </a:r>
            <a:endParaRPr b="0" lang="en-US" sz="1950" strike="noStrike" u="none">
              <a:solidFill>
                <a:srgbClr val="000000"/>
              </a:solidFill>
              <a:effectLst/>
              <a:uFillTx/>
              <a:latin typeface="Arial"/>
            </a:endParaRPr>
          </a:p>
        </p:txBody>
      </p:sp>
      <p:sp>
        <p:nvSpPr>
          <p:cNvPr id="87" name="Text 10"/>
          <p:cNvSpPr/>
          <p:nvPr/>
        </p:nvSpPr>
        <p:spPr>
          <a:xfrm>
            <a:off x="10763280" y="372204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88" name="Shape 11"/>
          <p:cNvSpPr/>
          <p:nvPr/>
        </p:nvSpPr>
        <p:spPr>
          <a:xfrm>
            <a:off x="11315880" y="3560400"/>
            <a:ext cx="3466440" cy="65664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89" name="Text 12"/>
          <p:cNvSpPr/>
          <p:nvPr/>
        </p:nvSpPr>
        <p:spPr>
          <a:xfrm>
            <a:off x="11450160" y="374112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Distance to centroid</a:t>
            </a:r>
            <a:endParaRPr b="0" lang="en-US" sz="1950" strike="noStrike" u="none">
              <a:solidFill>
                <a:srgbClr val="000000"/>
              </a:solidFill>
              <a:effectLst/>
              <a:uFillTx/>
              <a:latin typeface="Arial"/>
            </a:endParaRPr>
          </a:p>
        </p:txBody>
      </p:sp>
      <p:sp>
        <p:nvSpPr>
          <p:cNvPr id="90" name="Text 13"/>
          <p:cNvSpPr/>
          <p:nvPr/>
        </p:nvSpPr>
        <p:spPr>
          <a:xfrm>
            <a:off x="14878080" y="372204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1" name="Text 14"/>
          <p:cNvSpPr/>
          <p:nvPr/>
        </p:nvSpPr>
        <p:spPr>
          <a:xfrm>
            <a:off x="15430680" y="3741120"/>
            <a:ext cx="1980360" cy="33264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1950" strike="noStrike" u="none">
                <a:solidFill>
                  <a:srgbClr val="1a1a1f"/>
                </a:solidFill>
                <a:effectLst/>
                <a:uFillTx/>
                <a:latin typeface="Arial"/>
                <a:ea typeface="Arial"/>
              </a:rPr>
              <a:t>Raw scores</a:t>
            </a:r>
            <a:endParaRPr b="0" lang="en-US" sz="1950" strike="noStrike" u="none">
              <a:solidFill>
                <a:srgbClr val="000000"/>
              </a:solidFill>
              <a:effectLst/>
              <a:uFillTx/>
              <a:latin typeface="Arial"/>
            </a:endParaRPr>
          </a:p>
        </p:txBody>
      </p:sp>
      <p:sp>
        <p:nvSpPr>
          <p:cNvPr id="92" name="Text 15"/>
          <p:cNvSpPr/>
          <p:nvPr/>
        </p:nvSpPr>
        <p:spPr>
          <a:xfrm>
            <a:off x="952560" y="4631760"/>
            <a:ext cx="2075760" cy="6278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000000"/>
                </a:solidFill>
                <a:effectLst/>
                <a:uFillTx/>
                <a:latin typeface="Arial"/>
                <a:ea typeface="Arial"/>
              </a:rPr>
              <a:t>TRACK B · DENOISED</a:t>
            </a:r>
            <a:endParaRPr b="0" lang="en-US" sz="1800" strike="noStrike" u="none">
              <a:solidFill>
                <a:srgbClr val="000000"/>
              </a:solidFill>
              <a:effectLst/>
              <a:uFillTx/>
              <a:latin typeface="Arial"/>
            </a:endParaRPr>
          </a:p>
        </p:txBody>
      </p:sp>
      <p:sp>
        <p:nvSpPr>
          <p:cNvPr id="93" name="Shape 16"/>
          <p:cNvSpPr/>
          <p:nvPr/>
        </p:nvSpPr>
        <p:spPr>
          <a:xfrm>
            <a:off x="3086280" y="4598640"/>
            <a:ext cx="3466440" cy="65664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94" name="Text 17"/>
          <p:cNvSpPr/>
          <p:nvPr/>
        </p:nvSpPr>
        <p:spPr>
          <a:xfrm>
            <a:off x="3220560" y="477936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Noisy audio</a:t>
            </a:r>
            <a:endParaRPr b="0" lang="en-US" sz="1950" strike="noStrike" u="none">
              <a:solidFill>
                <a:srgbClr val="000000"/>
              </a:solidFill>
              <a:effectLst/>
              <a:uFillTx/>
              <a:latin typeface="Arial"/>
            </a:endParaRPr>
          </a:p>
        </p:txBody>
      </p:sp>
      <p:sp>
        <p:nvSpPr>
          <p:cNvPr id="95" name="Text 18"/>
          <p:cNvSpPr/>
          <p:nvPr/>
        </p:nvSpPr>
        <p:spPr>
          <a:xfrm>
            <a:off x="6648480" y="476028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6" name="Text 19"/>
          <p:cNvSpPr/>
          <p:nvPr/>
        </p:nvSpPr>
        <p:spPr>
          <a:xfrm>
            <a:off x="7335360" y="477936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f4f1ea"/>
                </a:solidFill>
                <a:effectLst/>
                <a:uFillTx/>
                <a:latin typeface="Arial"/>
                <a:ea typeface="Arial"/>
              </a:rPr>
              <a:t>Denoiser</a:t>
            </a:r>
            <a:endParaRPr b="0" lang="en-US" sz="1950" strike="noStrike" u="none">
              <a:solidFill>
                <a:srgbClr val="000000"/>
              </a:solidFill>
              <a:effectLst/>
              <a:uFillTx/>
              <a:latin typeface="Arial"/>
            </a:endParaRPr>
          </a:p>
        </p:txBody>
      </p:sp>
      <p:sp>
        <p:nvSpPr>
          <p:cNvPr id="97" name="Text 20"/>
          <p:cNvSpPr/>
          <p:nvPr/>
        </p:nvSpPr>
        <p:spPr>
          <a:xfrm>
            <a:off x="10763280" y="476028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8" name="Shape 21"/>
          <p:cNvSpPr/>
          <p:nvPr/>
        </p:nvSpPr>
        <p:spPr>
          <a:xfrm>
            <a:off x="11315880" y="4598640"/>
            <a:ext cx="3466440" cy="656640"/>
          </a:xfrm>
          <a:prstGeom prst="rect">
            <a:avLst/>
          </a:prstGeom>
          <a:solidFill>
            <a:srgbClr val="ece7dc"/>
          </a:solidFill>
          <a:ln w="9525">
            <a:solidFill>
              <a:srgbClr val="1a1a1f"/>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99" name="Text 22"/>
          <p:cNvSpPr/>
          <p:nvPr/>
        </p:nvSpPr>
        <p:spPr>
          <a:xfrm>
            <a:off x="11450160" y="4779360"/>
            <a:ext cx="3197520" cy="33264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MFCC template</a:t>
            </a:r>
            <a:endParaRPr b="0" lang="en-US" sz="1950" strike="noStrike" u="none">
              <a:solidFill>
                <a:srgbClr val="000000"/>
              </a:solidFill>
              <a:effectLst/>
              <a:uFillTx/>
              <a:latin typeface="Arial"/>
            </a:endParaRPr>
          </a:p>
        </p:txBody>
      </p:sp>
      <p:sp>
        <p:nvSpPr>
          <p:cNvPr id="100" name="Text 23"/>
          <p:cNvSpPr/>
          <p:nvPr/>
        </p:nvSpPr>
        <p:spPr>
          <a:xfrm>
            <a:off x="14878080" y="4760280"/>
            <a:ext cx="456480" cy="37080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101" name="Text 24"/>
          <p:cNvSpPr/>
          <p:nvPr/>
        </p:nvSpPr>
        <p:spPr>
          <a:xfrm>
            <a:off x="15430680" y="4779360"/>
            <a:ext cx="1980360" cy="33264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1950" strike="noStrike" u="none">
                <a:solidFill>
                  <a:srgbClr val="1a1a1f"/>
                </a:solidFill>
                <a:effectLst/>
                <a:uFillTx/>
                <a:latin typeface="Arial"/>
                <a:ea typeface="Arial"/>
              </a:rPr>
              <a:t>Denoised scores</a:t>
            </a:r>
            <a:endParaRPr b="0" lang="en-US" sz="1950" strike="noStrike" u="none">
              <a:solidFill>
                <a:srgbClr val="000000"/>
              </a:solidFill>
              <a:effectLst/>
              <a:uFillTx/>
              <a:latin typeface="Arial"/>
            </a:endParaRPr>
          </a:p>
        </p:txBody>
      </p:sp>
      <p:sp>
        <p:nvSpPr>
          <p:cNvPr id="102" name="Shape 25"/>
          <p:cNvSpPr/>
          <p:nvPr/>
        </p:nvSpPr>
        <p:spPr>
          <a:xfrm>
            <a:off x="952560" y="5865480"/>
            <a:ext cx="16382160" cy="8640"/>
          </a:xfrm>
          <a:prstGeom prst="rect">
            <a:avLst/>
          </a:prstGeom>
          <a:solidFill>
            <a:srgbClr val="c9c2b2"/>
          </a:solidFill>
          <a:ln w="0">
            <a:noFill/>
          </a:ln>
        </p:spPr>
        <p:style>
          <a:lnRef idx="0"/>
          <a:fillRef idx="0"/>
          <a:effectRef idx="0"/>
          <a:fontRef idx="minor"/>
        </p:style>
        <p:txBody>
          <a:bodyPr lIns="90000" rIns="90000" tIns="-35640" bIns="-35640" anchor="t">
            <a:noAutofit/>
          </a:bodyPr>
          <a:p>
            <a:pPr>
              <a:lnSpc>
                <a:spcPct val="100000"/>
              </a:lnSpc>
            </a:pPr>
            <a:endParaRPr b="0" lang="en-US" sz="1800" strike="noStrike" u="none">
              <a:solidFill>
                <a:srgbClr val="000000"/>
              </a:solidFill>
              <a:effectLst/>
              <a:uFillTx/>
              <a:latin typeface="Arial"/>
            </a:endParaRPr>
          </a:p>
        </p:txBody>
      </p:sp>
      <p:sp>
        <p:nvSpPr>
          <p:cNvPr id="103" name="Shape 26"/>
          <p:cNvSpPr/>
          <p:nvPr/>
        </p:nvSpPr>
        <p:spPr>
          <a:xfrm>
            <a:off x="952560" y="6179760"/>
            <a:ext cx="38091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04" name="Text 27"/>
          <p:cNvSpPr/>
          <p:nvPr/>
        </p:nvSpPr>
        <p:spPr>
          <a:xfrm>
            <a:off x="952560" y="6370200"/>
            <a:ext cx="39236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SAMPLES</a:t>
            </a:r>
            <a:endParaRPr b="0" lang="en-US" sz="1800" strike="noStrike" u="none">
              <a:solidFill>
                <a:srgbClr val="000000"/>
              </a:solidFill>
              <a:effectLst/>
              <a:uFillTx/>
              <a:latin typeface="Arial"/>
            </a:endParaRPr>
          </a:p>
        </p:txBody>
      </p:sp>
      <p:sp>
        <p:nvSpPr>
          <p:cNvPr id="105" name="Text 28"/>
          <p:cNvSpPr/>
          <p:nvPr/>
        </p:nvSpPr>
        <p:spPr>
          <a:xfrm>
            <a:off x="952560" y="6760800"/>
            <a:ext cx="3923640" cy="951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80</a:t>
            </a:r>
            <a:endParaRPr b="0" lang="en-US" sz="7200" strike="noStrike" u="none">
              <a:solidFill>
                <a:srgbClr val="000000"/>
              </a:solidFill>
              <a:effectLst/>
              <a:uFillTx/>
              <a:latin typeface="Arial"/>
            </a:endParaRPr>
          </a:p>
        </p:txBody>
      </p:sp>
      <p:sp>
        <p:nvSpPr>
          <p:cNvPr id="106" name="Text 29"/>
          <p:cNvSpPr/>
          <p:nvPr/>
        </p:nvSpPr>
        <p:spPr>
          <a:xfrm>
            <a:off x="952560" y="7770240"/>
            <a:ext cx="3923640" cy="371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Total, self-recorded.</a:t>
            </a:r>
            <a:endParaRPr b="0" lang="en-US" sz="1950" strike="noStrike" u="none">
              <a:solidFill>
                <a:srgbClr val="000000"/>
              </a:solidFill>
              <a:effectLst/>
              <a:uFillTx/>
              <a:latin typeface="Arial"/>
            </a:endParaRPr>
          </a:p>
        </p:txBody>
      </p:sp>
      <p:sp>
        <p:nvSpPr>
          <p:cNvPr id="107" name="Shape 30"/>
          <p:cNvSpPr/>
          <p:nvPr/>
        </p:nvSpPr>
        <p:spPr>
          <a:xfrm>
            <a:off x="5143680" y="6179760"/>
            <a:ext cx="38091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08" name="Text 31"/>
          <p:cNvSpPr/>
          <p:nvPr/>
        </p:nvSpPr>
        <p:spPr>
          <a:xfrm>
            <a:off x="5143680" y="6370200"/>
            <a:ext cx="39236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SPEAKERS</a:t>
            </a:r>
            <a:endParaRPr b="0" lang="en-US" sz="1800" strike="noStrike" u="none">
              <a:solidFill>
                <a:srgbClr val="000000"/>
              </a:solidFill>
              <a:effectLst/>
              <a:uFillTx/>
              <a:latin typeface="Arial"/>
            </a:endParaRPr>
          </a:p>
        </p:txBody>
      </p:sp>
      <p:sp>
        <p:nvSpPr>
          <p:cNvPr id="109" name="Text 32"/>
          <p:cNvSpPr/>
          <p:nvPr/>
        </p:nvSpPr>
        <p:spPr>
          <a:xfrm>
            <a:off x="5143680" y="6760800"/>
            <a:ext cx="3923640" cy="951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2</a:t>
            </a:r>
            <a:endParaRPr b="0" lang="en-US" sz="7200" strike="noStrike" u="none">
              <a:solidFill>
                <a:srgbClr val="000000"/>
              </a:solidFill>
              <a:effectLst/>
              <a:uFillTx/>
              <a:latin typeface="Arial"/>
            </a:endParaRPr>
          </a:p>
        </p:txBody>
      </p:sp>
      <p:sp>
        <p:nvSpPr>
          <p:cNvPr id="110" name="Text 33"/>
          <p:cNvSpPr/>
          <p:nvPr/>
        </p:nvSpPr>
        <p:spPr>
          <a:xfrm>
            <a:off x="5143680" y="7770240"/>
            <a:ext cx="3923640" cy="371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Enrolled separately.</a:t>
            </a:r>
            <a:endParaRPr b="0" lang="en-US" sz="1950" strike="noStrike" u="none">
              <a:solidFill>
                <a:srgbClr val="000000"/>
              </a:solidFill>
              <a:effectLst/>
              <a:uFillTx/>
              <a:latin typeface="Arial"/>
            </a:endParaRPr>
          </a:p>
        </p:txBody>
      </p:sp>
      <p:sp>
        <p:nvSpPr>
          <p:cNvPr id="111" name="Shape 34"/>
          <p:cNvSpPr/>
          <p:nvPr/>
        </p:nvSpPr>
        <p:spPr>
          <a:xfrm>
            <a:off x="9334440" y="6179760"/>
            <a:ext cx="38091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12" name="Text 35"/>
          <p:cNvSpPr/>
          <p:nvPr/>
        </p:nvSpPr>
        <p:spPr>
          <a:xfrm>
            <a:off x="9334440" y="6370200"/>
            <a:ext cx="39236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ENROLLMENT</a:t>
            </a:r>
            <a:endParaRPr b="0" lang="en-US" sz="1800" strike="noStrike" u="none">
              <a:solidFill>
                <a:srgbClr val="000000"/>
              </a:solidFill>
              <a:effectLst/>
              <a:uFillTx/>
              <a:latin typeface="Arial"/>
            </a:endParaRPr>
          </a:p>
        </p:txBody>
      </p:sp>
      <p:sp>
        <p:nvSpPr>
          <p:cNvPr id="113" name="Text 36"/>
          <p:cNvSpPr/>
          <p:nvPr/>
        </p:nvSpPr>
        <p:spPr>
          <a:xfrm>
            <a:off x="9334440" y="6760800"/>
            <a:ext cx="3923640" cy="951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5</a:t>
            </a:r>
            <a:endParaRPr b="0" lang="en-US" sz="7200" strike="noStrike" u="none">
              <a:solidFill>
                <a:srgbClr val="000000"/>
              </a:solidFill>
              <a:effectLst/>
              <a:uFillTx/>
              <a:latin typeface="Arial"/>
            </a:endParaRPr>
          </a:p>
        </p:txBody>
      </p:sp>
      <p:sp>
        <p:nvSpPr>
          <p:cNvPr id="114" name="Text 37"/>
          <p:cNvSpPr/>
          <p:nvPr/>
        </p:nvSpPr>
        <p:spPr>
          <a:xfrm>
            <a:off x="9334440" y="7770240"/>
            <a:ext cx="3923640" cy="371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Clips per speaker.</a:t>
            </a:r>
            <a:endParaRPr b="0" lang="en-US" sz="1950" strike="noStrike" u="none">
              <a:solidFill>
                <a:srgbClr val="000000"/>
              </a:solidFill>
              <a:effectLst/>
              <a:uFillTx/>
              <a:latin typeface="Arial"/>
            </a:endParaRPr>
          </a:p>
        </p:txBody>
      </p:sp>
      <p:sp>
        <p:nvSpPr>
          <p:cNvPr id="115" name="Shape 38"/>
          <p:cNvSpPr/>
          <p:nvPr/>
        </p:nvSpPr>
        <p:spPr>
          <a:xfrm>
            <a:off x="13525560" y="6179760"/>
            <a:ext cx="38091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16" name="Text 39"/>
          <p:cNvSpPr/>
          <p:nvPr/>
        </p:nvSpPr>
        <p:spPr>
          <a:xfrm>
            <a:off x="13525560" y="6370200"/>
            <a:ext cx="39236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NOISE SITES</a:t>
            </a:r>
            <a:endParaRPr b="0" lang="en-US" sz="1800" strike="noStrike" u="none">
              <a:solidFill>
                <a:srgbClr val="000000"/>
              </a:solidFill>
              <a:effectLst/>
              <a:uFillTx/>
              <a:latin typeface="Arial"/>
            </a:endParaRPr>
          </a:p>
        </p:txBody>
      </p:sp>
      <p:sp>
        <p:nvSpPr>
          <p:cNvPr id="117" name="Text 40"/>
          <p:cNvSpPr/>
          <p:nvPr/>
        </p:nvSpPr>
        <p:spPr>
          <a:xfrm>
            <a:off x="13525560" y="6760800"/>
            <a:ext cx="3923640" cy="951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7</a:t>
            </a:r>
            <a:endParaRPr b="0" lang="en-US" sz="7200" strike="noStrike" u="none">
              <a:solidFill>
                <a:srgbClr val="000000"/>
              </a:solidFill>
              <a:effectLst/>
              <a:uFillTx/>
              <a:latin typeface="Arial"/>
            </a:endParaRPr>
          </a:p>
        </p:txBody>
      </p:sp>
      <p:sp>
        <p:nvSpPr>
          <p:cNvPr id="118" name="Text 41"/>
          <p:cNvSpPr/>
          <p:nvPr/>
        </p:nvSpPr>
        <p:spPr>
          <a:xfrm>
            <a:off x="13525560" y="7770240"/>
            <a:ext cx="3923640" cy="371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5 clips per speaker, each.</a:t>
            </a:r>
            <a:endParaRPr b="0" lang="en-US" sz="1950" strike="noStrike" u="none">
              <a:solidFill>
                <a:srgbClr val="000000"/>
              </a:solidFill>
              <a:effectLst/>
              <a:uFillTx/>
              <a:latin typeface="Arial"/>
            </a:endParaRPr>
          </a:p>
        </p:txBody>
      </p:sp>
      <p:sp>
        <p:nvSpPr>
          <p:cNvPr id="119" name="Text 42"/>
          <p:cNvSpPr/>
          <p:nvPr/>
        </p:nvSpPr>
        <p:spPr>
          <a:xfrm>
            <a:off x="952560" y="8333280"/>
            <a:ext cx="1687392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trike="noStrike" u="none">
                <a:solidFill>
                  <a:srgbClr val="6b6b75"/>
                </a:solidFill>
                <a:effectLst/>
                <a:uFillTx/>
                <a:latin typeface="Arial"/>
                <a:ea typeface="Arial"/>
              </a:rPr>
              <a:t>Denoiser: pretrained speech enhancement model by Rashadul Hasan Badhon. Threshold held at Euclidean distance = 75 across both tracks.</a:t>
            </a:r>
            <a:endParaRPr b="0" lang="en-US" sz="2100" strike="noStrike" u="none">
              <a:solidFill>
                <a:srgbClr val="000000"/>
              </a:solidFill>
              <a:effectLst/>
              <a:uFillTx/>
              <a:latin typeface="Arial"/>
            </a:endParaRPr>
          </a:p>
        </p:txBody>
      </p:sp>
      <p:sp>
        <p:nvSpPr>
          <p:cNvPr id="120" name="Text 43"/>
          <p:cNvSpPr/>
          <p:nvPr/>
        </p:nvSpPr>
        <p:spPr>
          <a:xfrm>
            <a:off x="952560" y="9496440"/>
            <a:ext cx="1131840" cy="33264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121" name="Text 44"/>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07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22" name="Text 0"/>
          <p:cNvSpPr/>
          <p:nvPr/>
        </p:nvSpPr>
        <p:spPr>
          <a:xfrm>
            <a:off x="952560" y="457200"/>
            <a:ext cx="1354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123"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08 / 14</a:t>
            </a:r>
            <a:endParaRPr b="0" lang="en-US" sz="1800" strike="noStrike" u="none">
              <a:solidFill>
                <a:srgbClr val="000000"/>
              </a:solidFill>
              <a:effectLst/>
              <a:uFillTx/>
              <a:latin typeface="Arial"/>
            </a:endParaRPr>
          </a:p>
        </p:txBody>
      </p:sp>
      <p:sp>
        <p:nvSpPr>
          <p:cNvPr id="124"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METHODS · EVALUATION</a:t>
            </a:r>
            <a:endParaRPr b="0" lang="en-US" sz="1800" strike="noStrike" u="none">
              <a:solidFill>
                <a:srgbClr val="000000"/>
              </a:solidFill>
              <a:effectLst/>
              <a:uFillTx/>
              <a:latin typeface="Arial"/>
            </a:endParaRPr>
          </a:p>
        </p:txBody>
      </p:sp>
      <p:sp>
        <p:nvSpPr>
          <p:cNvPr id="125" name="Text 3"/>
          <p:cNvSpPr/>
          <p:nvPr/>
        </p:nvSpPr>
        <p:spPr>
          <a:xfrm>
            <a:off x="952560" y="1685880"/>
            <a:ext cx="15696360" cy="70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Three rates at a fixed decision threshold.</a:t>
            </a:r>
            <a:endParaRPr b="0" lang="en-US" sz="4800" strike="noStrike" u="none">
              <a:solidFill>
                <a:srgbClr val="000000"/>
              </a:solidFill>
              <a:effectLst/>
              <a:uFillTx/>
              <a:latin typeface="Arial"/>
            </a:endParaRPr>
          </a:p>
        </p:txBody>
      </p:sp>
      <p:sp>
        <p:nvSpPr>
          <p:cNvPr id="126" name="Shape 4"/>
          <p:cNvSpPr/>
          <p:nvPr/>
        </p:nvSpPr>
        <p:spPr>
          <a:xfrm>
            <a:off x="952560" y="3118320"/>
            <a:ext cx="507924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27" name="Text 5"/>
          <p:cNvSpPr/>
          <p:nvPr/>
        </p:nvSpPr>
        <p:spPr>
          <a:xfrm>
            <a:off x="952560" y="3308760"/>
            <a:ext cx="5231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FAR</a:t>
            </a:r>
            <a:endParaRPr b="0" lang="en-US" sz="1800" strike="noStrike" u="none">
              <a:solidFill>
                <a:srgbClr val="000000"/>
              </a:solidFill>
              <a:effectLst/>
              <a:uFillTx/>
              <a:latin typeface="Arial"/>
            </a:endParaRPr>
          </a:p>
        </p:txBody>
      </p:sp>
      <p:sp>
        <p:nvSpPr>
          <p:cNvPr id="128" name="Text 6"/>
          <p:cNvSpPr/>
          <p:nvPr/>
        </p:nvSpPr>
        <p:spPr>
          <a:xfrm>
            <a:off x="952560" y="3699360"/>
            <a:ext cx="5231520" cy="7232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False Accept</a:t>
            </a:r>
            <a:endParaRPr b="0" lang="en-US" sz="5400" strike="noStrike" u="none">
              <a:solidFill>
                <a:srgbClr val="000000"/>
              </a:solidFill>
              <a:effectLst/>
              <a:uFillTx/>
              <a:latin typeface="Arial"/>
            </a:endParaRPr>
          </a:p>
        </p:txBody>
      </p:sp>
      <p:sp>
        <p:nvSpPr>
          <p:cNvPr id="129" name="Text 7"/>
          <p:cNvSpPr/>
          <p:nvPr/>
        </p:nvSpPr>
        <p:spPr>
          <a:xfrm>
            <a:off x="952560" y="4480560"/>
            <a:ext cx="5231520" cy="810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5000"/>
              </a:lnSpc>
              <a:tabLst>
                <a:tab algn="l" pos="0"/>
              </a:tabLst>
            </a:pPr>
            <a:r>
              <a:rPr b="0" lang="en-US" sz="2100" strike="noStrike" u="none">
                <a:solidFill>
                  <a:srgbClr val="3a3a44"/>
                </a:solidFill>
                <a:effectLst/>
                <a:uFillTx/>
                <a:latin typeface="Arial"/>
                <a:ea typeface="Arial"/>
              </a:rPr>
              <a:t>Impostor passes the threshold. Lower is better.</a:t>
            </a:r>
            <a:endParaRPr b="0" lang="en-US" sz="2100" strike="noStrike" u="none">
              <a:solidFill>
                <a:srgbClr val="000000"/>
              </a:solidFill>
              <a:effectLst/>
              <a:uFillTx/>
              <a:latin typeface="Arial"/>
            </a:endParaRPr>
          </a:p>
        </p:txBody>
      </p:sp>
      <p:sp>
        <p:nvSpPr>
          <p:cNvPr id="130" name="Shape 8"/>
          <p:cNvSpPr/>
          <p:nvPr/>
        </p:nvSpPr>
        <p:spPr>
          <a:xfrm>
            <a:off x="6603840" y="3118320"/>
            <a:ext cx="507924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31" name="Text 9"/>
          <p:cNvSpPr/>
          <p:nvPr/>
        </p:nvSpPr>
        <p:spPr>
          <a:xfrm>
            <a:off x="6603840" y="3308760"/>
            <a:ext cx="5231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FRR</a:t>
            </a:r>
            <a:endParaRPr b="0" lang="en-US" sz="1800" strike="noStrike" u="none">
              <a:solidFill>
                <a:srgbClr val="000000"/>
              </a:solidFill>
              <a:effectLst/>
              <a:uFillTx/>
              <a:latin typeface="Arial"/>
            </a:endParaRPr>
          </a:p>
        </p:txBody>
      </p:sp>
      <p:sp>
        <p:nvSpPr>
          <p:cNvPr id="132" name="Text 10"/>
          <p:cNvSpPr/>
          <p:nvPr/>
        </p:nvSpPr>
        <p:spPr>
          <a:xfrm>
            <a:off x="6603840" y="3699360"/>
            <a:ext cx="5231520" cy="7232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False Reject</a:t>
            </a:r>
            <a:endParaRPr b="0" lang="en-US" sz="5400" strike="noStrike" u="none">
              <a:solidFill>
                <a:srgbClr val="000000"/>
              </a:solidFill>
              <a:effectLst/>
              <a:uFillTx/>
              <a:latin typeface="Arial"/>
            </a:endParaRPr>
          </a:p>
        </p:txBody>
      </p:sp>
      <p:sp>
        <p:nvSpPr>
          <p:cNvPr id="133" name="Text 11"/>
          <p:cNvSpPr/>
          <p:nvPr/>
        </p:nvSpPr>
        <p:spPr>
          <a:xfrm>
            <a:off x="6603840" y="4480560"/>
            <a:ext cx="5231520" cy="4240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100" strike="noStrike" u="none">
                <a:solidFill>
                  <a:srgbClr val="3a3a44"/>
                </a:solidFill>
                <a:effectLst/>
                <a:uFillTx/>
                <a:latin typeface="Arial"/>
                <a:ea typeface="Arial"/>
              </a:rPr>
              <a:t>True speaker is refused. Lower is better.</a:t>
            </a:r>
            <a:endParaRPr b="0" lang="en-US" sz="2100" strike="noStrike" u="none">
              <a:solidFill>
                <a:srgbClr val="000000"/>
              </a:solidFill>
              <a:effectLst/>
              <a:uFillTx/>
              <a:latin typeface="Arial"/>
            </a:endParaRPr>
          </a:p>
        </p:txBody>
      </p:sp>
      <p:sp>
        <p:nvSpPr>
          <p:cNvPr id="134" name="Shape 12"/>
          <p:cNvSpPr/>
          <p:nvPr/>
        </p:nvSpPr>
        <p:spPr>
          <a:xfrm>
            <a:off x="12255480" y="3118320"/>
            <a:ext cx="507924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35" name="Text 13"/>
          <p:cNvSpPr/>
          <p:nvPr/>
        </p:nvSpPr>
        <p:spPr>
          <a:xfrm>
            <a:off x="12255480" y="3308760"/>
            <a:ext cx="5231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TAR</a:t>
            </a:r>
            <a:endParaRPr b="0" lang="en-US" sz="1800" strike="noStrike" u="none">
              <a:solidFill>
                <a:srgbClr val="000000"/>
              </a:solidFill>
              <a:effectLst/>
              <a:uFillTx/>
              <a:latin typeface="Arial"/>
            </a:endParaRPr>
          </a:p>
        </p:txBody>
      </p:sp>
      <p:sp>
        <p:nvSpPr>
          <p:cNvPr id="136" name="Text 14"/>
          <p:cNvSpPr/>
          <p:nvPr/>
        </p:nvSpPr>
        <p:spPr>
          <a:xfrm>
            <a:off x="12255480" y="3699360"/>
            <a:ext cx="5231520" cy="7232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True Accept</a:t>
            </a:r>
            <a:endParaRPr b="0" lang="en-US" sz="5400" strike="noStrike" u="none">
              <a:solidFill>
                <a:srgbClr val="000000"/>
              </a:solidFill>
              <a:effectLst/>
              <a:uFillTx/>
              <a:latin typeface="Arial"/>
            </a:endParaRPr>
          </a:p>
        </p:txBody>
      </p:sp>
      <p:sp>
        <p:nvSpPr>
          <p:cNvPr id="137" name="Text 15"/>
          <p:cNvSpPr/>
          <p:nvPr/>
        </p:nvSpPr>
        <p:spPr>
          <a:xfrm>
            <a:off x="12255480" y="4480560"/>
            <a:ext cx="5231520" cy="4240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100" strike="noStrike" u="none">
                <a:solidFill>
                  <a:srgbClr val="3a3a44"/>
                </a:solidFill>
                <a:effectLst/>
                <a:uFillTx/>
                <a:latin typeface="Arial"/>
                <a:ea typeface="Arial"/>
              </a:rPr>
              <a:t>True speaker is accepted. Higher is better.</a:t>
            </a:r>
            <a:endParaRPr b="0" lang="en-US" sz="2100" strike="noStrike" u="none">
              <a:solidFill>
                <a:srgbClr val="000000"/>
              </a:solidFill>
              <a:effectLst/>
              <a:uFillTx/>
              <a:latin typeface="Arial"/>
            </a:endParaRPr>
          </a:p>
        </p:txBody>
      </p:sp>
      <p:sp>
        <p:nvSpPr>
          <p:cNvPr id="138" name="Shape 16"/>
          <p:cNvSpPr/>
          <p:nvPr/>
        </p:nvSpPr>
        <p:spPr>
          <a:xfrm>
            <a:off x="952560" y="5863320"/>
            <a:ext cx="16382160" cy="618480"/>
          </a:xfrm>
          <a:prstGeom prst="rect">
            <a:avLst/>
          </a:prstGeom>
          <a:solidFill>
            <a:srgbClr val="ece7dc"/>
          </a:solidFill>
          <a:ln w="0">
            <a:noFill/>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39" name="Text 17"/>
          <p:cNvSpPr/>
          <p:nvPr/>
        </p:nvSpPr>
        <p:spPr>
          <a:xfrm>
            <a:off x="1162080" y="5996880"/>
            <a:ext cx="16454520" cy="38988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2100" strike="noStrike" u="none">
                <a:solidFill>
                  <a:srgbClr val="1a1a1f"/>
                </a:solidFill>
                <a:effectLst/>
                <a:uFillTx/>
                <a:latin typeface="Arial"/>
                <a:ea typeface="Arial"/>
              </a:rPr>
              <a:t>Threshold: Euclidean distance &lt; 75.0</a:t>
            </a:r>
            <a:endParaRPr b="0" lang="en-US" sz="2100" strike="noStrike" u="none">
              <a:solidFill>
                <a:srgbClr val="000000"/>
              </a:solidFill>
              <a:effectLst/>
              <a:uFillTx/>
              <a:latin typeface="Arial"/>
            </a:endParaRPr>
          </a:p>
        </p:txBody>
      </p:sp>
      <p:sp>
        <p:nvSpPr>
          <p:cNvPr id="140" name="Text 18"/>
          <p:cNvSpPr/>
          <p:nvPr/>
        </p:nvSpPr>
        <p:spPr>
          <a:xfrm>
            <a:off x="952560" y="9496440"/>
            <a:ext cx="264096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METHODS · METRICS</a:t>
            </a:r>
            <a:endParaRPr b="0" lang="en-US" sz="1800" strike="noStrike" u="none">
              <a:solidFill>
                <a:srgbClr val="000000"/>
              </a:solidFill>
              <a:effectLst/>
              <a:uFillTx/>
              <a:latin typeface="Arial"/>
            </a:endParaRPr>
          </a:p>
        </p:txBody>
      </p:sp>
      <p:sp>
        <p:nvSpPr>
          <p:cNvPr id="141" name="Text 19"/>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08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42" name="Text 0"/>
          <p:cNvSpPr/>
          <p:nvPr/>
        </p:nvSpPr>
        <p:spPr>
          <a:xfrm>
            <a:off x="952560" y="457200"/>
            <a:ext cx="1354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43"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09 / 14</a:t>
            </a:r>
            <a:endParaRPr b="0" lang="en-US" sz="1800" strike="noStrike" u="none">
              <a:solidFill>
                <a:srgbClr val="000000"/>
              </a:solidFill>
              <a:effectLst/>
              <a:uFillTx/>
              <a:latin typeface="Arial"/>
            </a:endParaRPr>
          </a:p>
        </p:txBody>
      </p:sp>
      <p:sp>
        <p:nvSpPr>
          <p:cNvPr id="144"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SIGNAL INSPECTION</a:t>
            </a:r>
            <a:endParaRPr b="0" lang="en-US" sz="1800" strike="noStrike" u="none">
              <a:solidFill>
                <a:srgbClr val="000000"/>
              </a:solidFill>
              <a:effectLst/>
              <a:uFillTx/>
              <a:latin typeface="Arial"/>
            </a:endParaRPr>
          </a:p>
        </p:txBody>
      </p:sp>
      <p:sp>
        <p:nvSpPr>
          <p:cNvPr id="145" name="Text 3"/>
          <p:cNvSpPr/>
          <p:nvPr/>
        </p:nvSpPr>
        <p:spPr>
          <a:xfrm>
            <a:off x="952560" y="1685880"/>
            <a:ext cx="16677720" cy="70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Denoising visibly sharpens the harmonic structure.</a:t>
            </a:r>
            <a:endParaRPr b="0" lang="en-US" sz="4800" strike="noStrike" u="none">
              <a:solidFill>
                <a:srgbClr val="000000"/>
              </a:solidFill>
              <a:effectLst/>
              <a:uFillTx/>
              <a:latin typeface="Arial"/>
            </a:endParaRPr>
          </a:p>
        </p:txBody>
      </p:sp>
      <p:sp>
        <p:nvSpPr>
          <p:cNvPr id="146" name="Shape 4"/>
          <p:cNvSpPr/>
          <p:nvPr/>
        </p:nvSpPr>
        <p:spPr>
          <a:xfrm>
            <a:off x="952560" y="2813760"/>
            <a:ext cx="8000280" cy="408204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47" name="Text 5"/>
          <p:cNvSpPr/>
          <p:nvPr/>
        </p:nvSpPr>
        <p:spPr>
          <a:xfrm>
            <a:off x="1228680" y="3051720"/>
            <a:ext cx="76712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1 · RAW SPECTROGRAM</a:t>
            </a:r>
            <a:endParaRPr b="0" lang="en-US" sz="1800" strike="noStrike" u="none">
              <a:solidFill>
                <a:srgbClr val="000000"/>
              </a:solidFill>
              <a:effectLst/>
              <a:uFillTx/>
              <a:latin typeface="Arial"/>
            </a:endParaRPr>
          </a:p>
        </p:txBody>
      </p:sp>
      <p:pic>
        <p:nvPicPr>
          <p:cNvPr id="148" name="Image 0" descr="preencoded.png"/>
          <p:cNvPicPr/>
          <p:nvPr/>
        </p:nvPicPr>
        <p:blipFill>
          <a:blip r:embed="rId1"/>
          <a:stretch/>
        </p:blipFill>
        <p:spPr>
          <a:xfrm>
            <a:off x="1228680" y="3480480"/>
            <a:ext cx="7447680" cy="2792520"/>
          </a:xfrm>
          <a:prstGeom prst="rect">
            <a:avLst/>
          </a:prstGeom>
          <a:noFill/>
          <a:ln w="0">
            <a:noFill/>
          </a:ln>
        </p:spPr>
      </p:pic>
      <p:sp>
        <p:nvSpPr>
          <p:cNvPr id="149" name="Text 6"/>
          <p:cNvSpPr/>
          <p:nvPr/>
        </p:nvSpPr>
        <p:spPr>
          <a:xfrm>
            <a:off x="1228680" y="6406920"/>
            <a:ext cx="7671240" cy="345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Broad background energy across frequencies.</a:t>
            </a:r>
            <a:endParaRPr b="0" lang="en-US" sz="1800" strike="noStrike" u="none">
              <a:solidFill>
                <a:srgbClr val="000000"/>
              </a:solidFill>
              <a:effectLst/>
              <a:uFillTx/>
              <a:latin typeface="Arial"/>
            </a:endParaRPr>
          </a:p>
        </p:txBody>
      </p:sp>
      <p:sp>
        <p:nvSpPr>
          <p:cNvPr id="150" name="Shape 7"/>
          <p:cNvSpPr/>
          <p:nvPr/>
        </p:nvSpPr>
        <p:spPr>
          <a:xfrm>
            <a:off x="9334440" y="2813760"/>
            <a:ext cx="8000280" cy="408204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51" name="Text 8"/>
          <p:cNvSpPr/>
          <p:nvPr/>
        </p:nvSpPr>
        <p:spPr>
          <a:xfrm>
            <a:off x="9610560" y="3051720"/>
            <a:ext cx="76712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2 · DENOISED SPECTROGRAM</a:t>
            </a:r>
            <a:endParaRPr b="0" lang="en-US" sz="1800" strike="noStrike" u="none">
              <a:solidFill>
                <a:srgbClr val="000000"/>
              </a:solidFill>
              <a:effectLst/>
              <a:uFillTx/>
              <a:latin typeface="Arial"/>
            </a:endParaRPr>
          </a:p>
        </p:txBody>
      </p:sp>
      <p:pic>
        <p:nvPicPr>
          <p:cNvPr id="152" name="Image 1" descr="preencoded.png"/>
          <p:cNvPicPr/>
          <p:nvPr/>
        </p:nvPicPr>
        <p:blipFill>
          <a:blip r:embed="rId2"/>
          <a:stretch/>
        </p:blipFill>
        <p:spPr>
          <a:xfrm>
            <a:off x="9610560" y="3480480"/>
            <a:ext cx="7447680" cy="2792520"/>
          </a:xfrm>
          <a:prstGeom prst="rect">
            <a:avLst/>
          </a:prstGeom>
          <a:noFill/>
          <a:ln w="0">
            <a:noFill/>
          </a:ln>
        </p:spPr>
      </p:pic>
      <p:sp>
        <p:nvSpPr>
          <p:cNvPr id="153" name="Text 9"/>
          <p:cNvSpPr/>
          <p:nvPr/>
        </p:nvSpPr>
        <p:spPr>
          <a:xfrm>
            <a:off x="9610560" y="6406920"/>
            <a:ext cx="7671240" cy="3459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Harmonic bands sharpen; background attenuated.</a:t>
            </a:r>
            <a:endParaRPr b="0" lang="en-US" sz="1800" strike="noStrike" u="none">
              <a:solidFill>
                <a:srgbClr val="000000"/>
              </a:solidFill>
              <a:effectLst/>
              <a:uFillTx/>
              <a:latin typeface="Arial"/>
            </a:endParaRPr>
          </a:p>
        </p:txBody>
      </p:sp>
      <p:sp>
        <p:nvSpPr>
          <p:cNvPr id="154" name="Text 10"/>
          <p:cNvSpPr/>
          <p:nvPr/>
        </p:nvSpPr>
        <p:spPr>
          <a:xfrm>
            <a:off x="952560" y="9496440"/>
            <a:ext cx="341820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RESULTS · SPECTROGRAMS</a:t>
            </a:r>
            <a:endParaRPr b="0" lang="en-US" sz="1800" strike="noStrike" u="none">
              <a:solidFill>
                <a:srgbClr val="000000"/>
              </a:solidFill>
              <a:effectLst/>
              <a:uFillTx/>
              <a:latin typeface="Arial"/>
            </a:endParaRPr>
          </a:p>
        </p:txBody>
      </p:sp>
      <p:sp>
        <p:nvSpPr>
          <p:cNvPr id="155" name="Text 11"/>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09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56" name="Text 0"/>
          <p:cNvSpPr/>
          <p:nvPr/>
        </p:nvSpPr>
        <p:spPr>
          <a:xfrm>
            <a:off x="952560" y="457200"/>
            <a:ext cx="1354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57"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10 / 14</a:t>
            </a:r>
            <a:endParaRPr b="0" lang="en-US" sz="1800" strike="noStrike" u="none">
              <a:solidFill>
                <a:srgbClr val="000000"/>
              </a:solidFill>
              <a:effectLst/>
              <a:uFillTx/>
              <a:latin typeface="Arial"/>
            </a:endParaRPr>
          </a:p>
        </p:txBody>
      </p:sp>
      <p:sp>
        <p:nvSpPr>
          <p:cNvPr id="158"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SCORE DISTRIBUTIONS</a:t>
            </a:r>
            <a:endParaRPr b="0" lang="en-US" sz="1800" strike="noStrike" u="none">
              <a:solidFill>
                <a:srgbClr val="000000"/>
              </a:solidFill>
              <a:effectLst/>
              <a:uFillTx/>
              <a:latin typeface="Arial"/>
            </a:endParaRPr>
          </a:p>
        </p:txBody>
      </p:sp>
      <p:sp>
        <p:nvSpPr>
          <p:cNvPr id="159" name="Text 3"/>
          <p:cNvSpPr/>
          <p:nvPr/>
        </p:nvSpPr>
        <p:spPr>
          <a:xfrm>
            <a:off x="952560" y="1685880"/>
            <a:ext cx="16677720" cy="70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The distributions did separate — just not by enough.</a:t>
            </a:r>
            <a:endParaRPr b="0" lang="en-US" sz="4800" strike="noStrike" u="none">
              <a:solidFill>
                <a:srgbClr val="000000"/>
              </a:solidFill>
              <a:effectLst/>
              <a:uFillTx/>
              <a:latin typeface="Arial"/>
            </a:endParaRPr>
          </a:p>
        </p:txBody>
      </p:sp>
      <p:sp>
        <p:nvSpPr>
          <p:cNvPr id="160" name="Shape 4"/>
          <p:cNvSpPr/>
          <p:nvPr/>
        </p:nvSpPr>
        <p:spPr>
          <a:xfrm>
            <a:off x="952560" y="2813760"/>
            <a:ext cx="8000280" cy="532152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61" name="Text 5"/>
          <p:cNvSpPr/>
          <p:nvPr/>
        </p:nvSpPr>
        <p:spPr>
          <a:xfrm>
            <a:off x="1228680" y="3051720"/>
            <a:ext cx="76712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3 · RAW</a:t>
            </a:r>
            <a:endParaRPr b="0" lang="en-US" sz="1800" strike="noStrike" u="none">
              <a:solidFill>
                <a:srgbClr val="000000"/>
              </a:solidFill>
              <a:effectLst/>
              <a:uFillTx/>
              <a:latin typeface="Arial"/>
            </a:endParaRPr>
          </a:p>
        </p:txBody>
      </p:sp>
      <p:pic>
        <p:nvPicPr>
          <p:cNvPr id="162" name="Image 0" descr="preencoded.png"/>
          <p:cNvPicPr/>
          <p:nvPr/>
        </p:nvPicPr>
        <p:blipFill>
          <a:blip r:embed="rId1"/>
          <a:stretch/>
        </p:blipFill>
        <p:spPr>
          <a:xfrm>
            <a:off x="1228680" y="3480480"/>
            <a:ext cx="7447680" cy="3723480"/>
          </a:xfrm>
          <a:prstGeom prst="rect">
            <a:avLst/>
          </a:prstGeom>
          <a:noFill/>
          <a:ln w="0">
            <a:noFill/>
          </a:ln>
        </p:spPr>
      </p:pic>
      <p:sp>
        <p:nvSpPr>
          <p:cNvPr id="163" name="Text 6"/>
          <p:cNvSpPr/>
          <p:nvPr/>
        </p:nvSpPr>
        <p:spPr>
          <a:xfrm>
            <a:off x="1228680" y="7337880"/>
            <a:ext cx="7671240" cy="6544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Genuine (blue) mostly below threshold; impostor (red) mostly above. Heavy overlap around 75.</a:t>
            </a:r>
            <a:endParaRPr b="0" lang="en-US" sz="1800" strike="noStrike" u="none">
              <a:solidFill>
                <a:srgbClr val="000000"/>
              </a:solidFill>
              <a:effectLst/>
              <a:uFillTx/>
              <a:latin typeface="Arial"/>
            </a:endParaRPr>
          </a:p>
        </p:txBody>
      </p:sp>
      <p:sp>
        <p:nvSpPr>
          <p:cNvPr id="164" name="Shape 7"/>
          <p:cNvSpPr/>
          <p:nvPr/>
        </p:nvSpPr>
        <p:spPr>
          <a:xfrm>
            <a:off x="9334440" y="2813760"/>
            <a:ext cx="8000280" cy="532152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65" name="Text 8"/>
          <p:cNvSpPr/>
          <p:nvPr/>
        </p:nvSpPr>
        <p:spPr>
          <a:xfrm>
            <a:off x="9610560" y="3051720"/>
            <a:ext cx="76712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4 · DENOISED</a:t>
            </a:r>
            <a:endParaRPr b="0" lang="en-US" sz="1800" strike="noStrike" u="none">
              <a:solidFill>
                <a:srgbClr val="000000"/>
              </a:solidFill>
              <a:effectLst/>
              <a:uFillTx/>
              <a:latin typeface="Arial"/>
            </a:endParaRPr>
          </a:p>
        </p:txBody>
      </p:sp>
      <p:pic>
        <p:nvPicPr>
          <p:cNvPr id="166" name="Image 1" descr="preencoded.png"/>
          <p:cNvPicPr/>
          <p:nvPr/>
        </p:nvPicPr>
        <p:blipFill>
          <a:blip r:embed="rId2"/>
          <a:stretch/>
        </p:blipFill>
        <p:spPr>
          <a:xfrm>
            <a:off x="9610560" y="3480480"/>
            <a:ext cx="7447680" cy="3723480"/>
          </a:xfrm>
          <a:prstGeom prst="rect">
            <a:avLst/>
          </a:prstGeom>
          <a:noFill/>
          <a:ln w="0">
            <a:noFill/>
          </a:ln>
        </p:spPr>
      </p:pic>
      <p:sp>
        <p:nvSpPr>
          <p:cNvPr id="167" name="Text 9"/>
          <p:cNvSpPr/>
          <p:nvPr/>
        </p:nvSpPr>
        <p:spPr>
          <a:xfrm>
            <a:off x="9610560" y="7337880"/>
            <a:ext cx="7671240" cy="6544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Genuine and impostor pull apart more than in the raw case — but separation is still incomplete at the fixed threshold.</a:t>
            </a:r>
            <a:endParaRPr b="0" lang="en-US" sz="1800" strike="noStrike" u="none">
              <a:solidFill>
                <a:srgbClr val="000000"/>
              </a:solidFill>
              <a:effectLst/>
              <a:uFillTx/>
              <a:latin typeface="Arial"/>
            </a:endParaRPr>
          </a:p>
        </p:txBody>
      </p:sp>
      <p:sp>
        <p:nvSpPr>
          <p:cNvPr id="168" name="Text 10"/>
          <p:cNvSpPr/>
          <p:nvPr/>
        </p:nvSpPr>
        <p:spPr>
          <a:xfrm>
            <a:off x="952560" y="9496440"/>
            <a:ext cx="248976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RESULTS · SCORES</a:t>
            </a:r>
            <a:endParaRPr b="0" lang="en-US" sz="1800" strike="noStrike" u="none">
              <a:solidFill>
                <a:srgbClr val="000000"/>
              </a:solidFill>
              <a:effectLst/>
              <a:uFillTx/>
              <a:latin typeface="Arial"/>
            </a:endParaRPr>
          </a:p>
        </p:txBody>
      </p:sp>
      <p:sp>
        <p:nvSpPr>
          <p:cNvPr id="169" name="Text 11"/>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10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70" name="Text 0"/>
          <p:cNvSpPr/>
          <p:nvPr/>
        </p:nvSpPr>
        <p:spPr>
          <a:xfrm>
            <a:off x="952560" y="457200"/>
            <a:ext cx="13543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71"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11 / 14</a:t>
            </a:r>
            <a:endParaRPr b="0" lang="en-US" sz="1800" strike="noStrike" u="none">
              <a:solidFill>
                <a:srgbClr val="000000"/>
              </a:solidFill>
              <a:effectLst/>
              <a:uFillTx/>
              <a:latin typeface="Arial"/>
            </a:endParaRPr>
          </a:p>
        </p:txBody>
      </p:sp>
      <p:sp>
        <p:nvSpPr>
          <p:cNvPr id="172"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RATE COMPARISON</a:t>
            </a:r>
            <a:endParaRPr b="0" lang="en-US" sz="1800" strike="noStrike" u="none">
              <a:solidFill>
                <a:srgbClr val="000000"/>
              </a:solidFill>
              <a:effectLst/>
              <a:uFillTx/>
              <a:latin typeface="Arial"/>
            </a:endParaRPr>
          </a:p>
        </p:txBody>
      </p:sp>
      <p:sp>
        <p:nvSpPr>
          <p:cNvPr id="173" name="Text 3"/>
          <p:cNvSpPr/>
          <p:nvPr/>
        </p:nvSpPr>
        <p:spPr>
          <a:xfrm>
            <a:off x="952560" y="1685880"/>
            <a:ext cx="16677720" cy="70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TAR and FRR improve sharply. FAR rises at the fixed threshold.</a:t>
            </a:r>
            <a:endParaRPr b="0" lang="en-US" sz="4800" strike="noStrike" u="none">
              <a:solidFill>
                <a:srgbClr val="000000"/>
              </a:solidFill>
              <a:effectLst/>
              <a:uFillTx/>
              <a:latin typeface="Arial"/>
            </a:endParaRPr>
          </a:p>
        </p:txBody>
      </p:sp>
      <p:sp>
        <p:nvSpPr>
          <p:cNvPr id="174" name="Shape 4"/>
          <p:cNvSpPr/>
          <p:nvPr/>
        </p:nvSpPr>
        <p:spPr>
          <a:xfrm>
            <a:off x="952560" y="2955960"/>
            <a:ext cx="8804520" cy="556272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175" name="Text 5"/>
          <p:cNvSpPr/>
          <p:nvPr/>
        </p:nvSpPr>
        <p:spPr>
          <a:xfrm>
            <a:off x="1228680" y="3194280"/>
            <a:ext cx="849960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5 · FAR / FRR / TAR, RAW VS. DENOISED</a:t>
            </a:r>
            <a:endParaRPr b="0" lang="en-US" sz="1800" strike="noStrike" u="none">
              <a:solidFill>
                <a:srgbClr val="000000"/>
              </a:solidFill>
              <a:effectLst/>
              <a:uFillTx/>
              <a:latin typeface="Arial"/>
            </a:endParaRPr>
          </a:p>
        </p:txBody>
      </p:sp>
      <p:pic>
        <p:nvPicPr>
          <p:cNvPr id="176" name="Image 0" descr="preencoded.png"/>
          <p:cNvPicPr/>
          <p:nvPr/>
        </p:nvPicPr>
        <p:blipFill>
          <a:blip r:embed="rId1"/>
          <a:stretch/>
        </p:blipFill>
        <p:spPr>
          <a:xfrm>
            <a:off x="1228680" y="3622680"/>
            <a:ext cx="8251920" cy="4714920"/>
          </a:xfrm>
          <a:prstGeom prst="rect">
            <a:avLst/>
          </a:prstGeom>
          <a:noFill/>
          <a:ln w="0">
            <a:noFill/>
          </a:ln>
        </p:spPr>
      </p:pic>
      <p:sp>
        <p:nvSpPr>
          <p:cNvPr id="177" name="Shape 6"/>
          <p:cNvSpPr/>
          <p:nvPr/>
        </p:nvSpPr>
        <p:spPr>
          <a:xfrm>
            <a:off x="10291320" y="2661120"/>
            <a:ext cx="70437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78" name="Text 7"/>
          <p:cNvSpPr/>
          <p:nvPr/>
        </p:nvSpPr>
        <p:spPr>
          <a:xfrm>
            <a:off x="10291320" y="2851560"/>
            <a:ext cx="72550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TAR · TRUE ACCEPT</a:t>
            </a:r>
            <a:endParaRPr b="0" lang="en-US" sz="1800" strike="noStrike" u="none">
              <a:solidFill>
                <a:srgbClr val="000000"/>
              </a:solidFill>
              <a:effectLst/>
              <a:uFillTx/>
              <a:latin typeface="Arial"/>
            </a:endParaRPr>
          </a:p>
        </p:txBody>
      </p:sp>
      <p:sp>
        <p:nvSpPr>
          <p:cNvPr id="179" name="Text 8"/>
          <p:cNvSpPr/>
          <p:nvPr/>
        </p:nvSpPr>
        <p:spPr>
          <a:xfrm>
            <a:off x="10291320" y="3242160"/>
            <a:ext cx="7255080" cy="875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1a1a1f"/>
                </a:solidFill>
                <a:effectLst/>
                <a:uFillTx/>
                <a:latin typeface="Arial"/>
                <a:ea typeface="Arial"/>
              </a:rPr>
              <a:t>+29 pt</a:t>
            </a:r>
            <a:endParaRPr b="0" lang="en-US" sz="6600" strike="noStrike" u="none">
              <a:solidFill>
                <a:srgbClr val="000000"/>
              </a:solidFill>
              <a:effectLst/>
              <a:uFillTx/>
              <a:latin typeface="Arial"/>
            </a:endParaRPr>
          </a:p>
        </p:txBody>
      </p:sp>
      <p:sp>
        <p:nvSpPr>
          <p:cNvPr id="180" name="Text 9"/>
          <p:cNvSpPr/>
          <p:nvPr/>
        </p:nvSpPr>
        <p:spPr>
          <a:xfrm>
            <a:off x="10291320" y="4175640"/>
            <a:ext cx="7255080" cy="3708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00a933"/>
                </a:solidFill>
                <a:effectLst/>
                <a:uFillTx/>
                <a:latin typeface="Arial"/>
                <a:ea typeface="Arial"/>
              </a:rPr>
              <a:t>0.63 → 0.92</a:t>
            </a:r>
            <a:endParaRPr b="0" lang="en-US" sz="1950" strike="noStrike" u="none">
              <a:solidFill>
                <a:srgbClr val="00a933"/>
              </a:solidFill>
              <a:effectLst/>
              <a:uFillTx/>
              <a:latin typeface="Arial"/>
            </a:endParaRPr>
          </a:p>
        </p:txBody>
      </p:sp>
      <p:sp>
        <p:nvSpPr>
          <p:cNvPr id="181" name="Shape 10"/>
          <p:cNvSpPr/>
          <p:nvPr/>
        </p:nvSpPr>
        <p:spPr>
          <a:xfrm>
            <a:off x="10291320" y="4813920"/>
            <a:ext cx="7043760" cy="18360"/>
          </a:xfrm>
          <a:prstGeom prst="rect">
            <a:avLst/>
          </a:prstGeom>
          <a:solidFill>
            <a:srgbClr val="1a1a1f"/>
          </a:solidFill>
          <a:ln w="0">
            <a:noFill/>
          </a:ln>
        </p:spPr>
        <p:style>
          <a:lnRef idx="0"/>
          <a:fillRef idx="0"/>
          <a:effectRef idx="0"/>
          <a:fontRef idx="minor"/>
        </p:style>
        <p:txBody>
          <a:bodyPr lIns="90000" rIns="90000" tIns="-25920" bIns="-25920" anchor="t">
            <a:noAutofit/>
          </a:bodyPr>
          <a:p>
            <a:pPr>
              <a:lnSpc>
                <a:spcPct val="100000"/>
              </a:lnSpc>
            </a:pPr>
            <a:endParaRPr b="0" lang="en-US" sz="1800" strike="noStrike" u="none">
              <a:solidFill>
                <a:srgbClr val="ffffff"/>
              </a:solidFill>
              <a:effectLst/>
              <a:uFillTx/>
              <a:latin typeface="Arial"/>
            </a:endParaRPr>
          </a:p>
        </p:txBody>
      </p:sp>
      <p:sp>
        <p:nvSpPr>
          <p:cNvPr id="182" name="Text 11"/>
          <p:cNvSpPr/>
          <p:nvPr/>
        </p:nvSpPr>
        <p:spPr>
          <a:xfrm>
            <a:off x="10291320" y="5004360"/>
            <a:ext cx="72550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FRR · FALSE REJECT</a:t>
            </a:r>
            <a:endParaRPr b="0" lang="en-US" sz="1800" strike="noStrike" u="none">
              <a:solidFill>
                <a:srgbClr val="000000"/>
              </a:solidFill>
              <a:effectLst/>
              <a:uFillTx/>
              <a:latin typeface="Arial"/>
            </a:endParaRPr>
          </a:p>
        </p:txBody>
      </p:sp>
      <p:sp>
        <p:nvSpPr>
          <p:cNvPr id="183" name="Text 12"/>
          <p:cNvSpPr/>
          <p:nvPr/>
        </p:nvSpPr>
        <p:spPr>
          <a:xfrm>
            <a:off x="10291320" y="5394960"/>
            <a:ext cx="7255080" cy="875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1a1a1f"/>
                </a:solidFill>
                <a:effectLst/>
                <a:uFillTx/>
                <a:latin typeface="Arial"/>
                <a:ea typeface="Arial"/>
              </a:rPr>
              <a:t>−29 pt</a:t>
            </a:r>
            <a:endParaRPr b="0" lang="en-US" sz="6600" strike="noStrike" u="none">
              <a:solidFill>
                <a:srgbClr val="000000"/>
              </a:solidFill>
              <a:effectLst/>
              <a:uFillTx/>
              <a:latin typeface="Arial"/>
            </a:endParaRPr>
          </a:p>
        </p:txBody>
      </p:sp>
      <p:sp>
        <p:nvSpPr>
          <p:cNvPr id="184" name="Text 13"/>
          <p:cNvSpPr/>
          <p:nvPr/>
        </p:nvSpPr>
        <p:spPr>
          <a:xfrm>
            <a:off x="10291320" y="6328440"/>
            <a:ext cx="7255080" cy="3708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00a933"/>
                </a:solidFill>
                <a:effectLst/>
                <a:uFillTx/>
                <a:latin typeface="Arial"/>
                <a:ea typeface="Arial"/>
              </a:rPr>
              <a:t>0.37 → 0.08</a:t>
            </a:r>
            <a:endParaRPr b="0" lang="en-US" sz="1950" strike="noStrike" u="none">
              <a:solidFill>
                <a:srgbClr val="00a933"/>
              </a:solidFill>
              <a:effectLst/>
              <a:uFillTx/>
              <a:latin typeface="Arial"/>
            </a:endParaRPr>
          </a:p>
        </p:txBody>
      </p:sp>
      <p:sp>
        <p:nvSpPr>
          <p:cNvPr id="185" name="Text 14"/>
          <p:cNvSpPr/>
          <p:nvPr/>
        </p:nvSpPr>
        <p:spPr>
          <a:xfrm>
            <a:off x="10291320" y="7157160"/>
            <a:ext cx="72550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000000"/>
                </a:solidFill>
                <a:effectLst/>
                <a:uFillTx/>
                <a:latin typeface="Arial"/>
                <a:ea typeface="Arial"/>
              </a:rPr>
              <a:t>FAR · FALSE ACCEPT</a:t>
            </a:r>
            <a:endParaRPr b="0" lang="en-US" sz="1800" strike="noStrike" u="none">
              <a:solidFill>
                <a:srgbClr val="000000"/>
              </a:solidFill>
              <a:effectLst/>
              <a:uFillTx/>
              <a:latin typeface="Arial"/>
            </a:endParaRPr>
          </a:p>
        </p:txBody>
      </p:sp>
      <p:sp>
        <p:nvSpPr>
          <p:cNvPr id="186" name="Text 15"/>
          <p:cNvSpPr/>
          <p:nvPr/>
        </p:nvSpPr>
        <p:spPr>
          <a:xfrm>
            <a:off x="10291320" y="7547400"/>
            <a:ext cx="7255080" cy="875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000000"/>
                </a:solidFill>
                <a:effectLst/>
                <a:uFillTx/>
                <a:latin typeface="Arial"/>
                <a:ea typeface="Arial"/>
              </a:rPr>
              <a:t>+32 pt</a:t>
            </a:r>
            <a:endParaRPr b="0" lang="en-US" sz="6600" strike="noStrike" u="none">
              <a:solidFill>
                <a:srgbClr val="000000"/>
              </a:solidFill>
              <a:effectLst/>
              <a:uFillTx/>
              <a:latin typeface="Arial"/>
            </a:endParaRPr>
          </a:p>
        </p:txBody>
      </p:sp>
      <p:sp>
        <p:nvSpPr>
          <p:cNvPr id="187" name="Text 16"/>
          <p:cNvSpPr/>
          <p:nvPr/>
        </p:nvSpPr>
        <p:spPr>
          <a:xfrm>
            <a:off x="10291320" y="8480880"/>
            <a:ext cx="7255080" cy="3708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ff0000"/>
                </a:solidFill>
                <a:effectLst/>
                <a:uFillTx/>
                <a:latin typeface="Arial"/>
                <a:ea typeface="Arial"/>
              </a:rPr>
              <a:t>0.11 → 0.43</a:t>
            </a:r>
            <a:endParaRPr b="0" lang="en-US" sz="1950" strike="noStrike" u="none">
              <a:solidFill>
                <a:srgbClr val="ff0000"/>
              </a:solidFill>
              <a:effectLst/>
              <a:uFillTx/>
              <a:latin typeface="Arial"/>
            </a:endParaRPr>
          </a:p>
        </p:txBody>
      </p:sp>
      <p:sp>
        <p:nvSpPr>
          <p:cNvPr id="188" name="Text 17"/>
          <p:cNvSpPr/>
          <p:nvPr/>
        </p:nvSpPr>
        <p:spPr>
          <a:xfrm>
            <a:off x="952560" y="9496440"/>
            <a:ext cx="233856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RESULTS · RATES</a:t>
            </a:r>
            <a:endParaRPr b="0" lang="en-US" sz="1800" strike="noStrike" u="none">
              <a:solidFill>
                <a:srgbClr val="000000"/>
              </a:solidFill>
              <a:effectLst/>
              <a:uFillTx/>
              <a:latin typeface="Arial"/>
            </a:endParaRPr>
          </a:p>
        </p:txBody>
      </p:sp>
      <p:sp>
        <p:nvSpPr>
          <p:cNvPr id="189" name="Text 18"/>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11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90"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DISCUSSION</a:t>
            </a:r>
            <a:endParaRPr b="0" lang="en-US" sz="1800" strike="noStrike" u="none">
              <a:solidFill>
                <a:srgbClr val="000000"/>
              </a:solidFill>
              <a:effectLst/>
              <a:uFillTx/>
              <a:latin typeface="Arial"/>
            </a:endParaRPr>
          </a:p>
        </p:txBody>
      </p:sp>
      <p:sp>
        <p:nvSpPr>
          <p:cNvPr id="191"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12 / 14</a:t>
            </a:r>
            <a:endParaRPr b="0" lang="en-US" sz="1800" strike="noStrike" u="none">
              <a:solidFill>
                <a:srgbClr val="000000"/>
              </a:solidFill>
              <a:effectLst/>
              <a:uFillTx/>
              <a:latin typeface="Arial"/>
            </a:endParaRPr>
          </a:p>
        </p:txBody>
      </p:sp>
      <p:sp>
        <p:nvSpPr>
          <p:cNvPr id="192" name="Text 2"/>
          <p:cNvSpPr/>
          <p:nvPr/>
        </p:nvSpPr>
        <p:spPr>
          <a:xfrm>
            <a:off x="952560" y="104760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DISCUSSION</a:t>
            </a:r>
            <a:endParaRPr b="0" lang="en-US" sz="1800" strike="noStrike" u="none">
              <a:solidFill>
                <a:srgbClr val="000000"/>
              </a:solidFill>
              <a:effectLst/>
              <a:uFillTx/>
              <a:latin typeface="Arial"/>
            </a:endParaRPr>
          </a:p>
        </p:txBody>
      </p:sp>
      <p:sp>
        <p:nvSpPr>
          <p:cNvPr id="193" name="Text 3"/>
          <p:cNvSpPr/>
          <p:nvPr/>
        </p:nvSpPr>
        <p:spPr>
          <a:xfrm>
            <a:off x="952560" y="1685880"/>
            <a:ext cx="16677720" cy="15573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5000"/>
              </a:lnSpc>
              <a:tabLst>
                <a:tab algn="l" pos="0"/>
              </a:tabLst>
            </a:pPr>
            <a:r>
              <a:rPr b="0" lang="en-US" sz="5700" spc="-113" strike="noStrike" u="none">
                <a:solidFill>
                  <a:srgbClr val="1a1a1f"/>
                </a:solidFill>
                <a:effectLst/>
                <a:uFillTx/>
                <a:latin typeface="Arial"/>
                <a:ea typeface="Arial"/>
              </a:rPr>
              <a:t>Denoising helped — just not enough, and not at a fixed threshold.</a:t>
            </a:r>
            <a:endParaRPr b="0" lang="en-US" sz="5700" strike="noStrike" u="none">
              <a:solidFill>
                <a:srgbClr val="000000"/>
              </a:solidFill>
              <a:effectLst/>
              <a:uFillTx/>
              <a:latin typeface="Arial"/>
            </a:endParaRPr>
          </a:p>
        </p:txBody>
      </p:sp>
      <p:sp>
        <p:nvSpPr>
          <p:cNvPr id="194" name="Text 4"/>
          <p:cNvSpPr/>
          <p:nvPr/>
        </p:nvSpPr>
        <p:spPr>
          <a:xfrm>
            <a:off x="952560" y="3739320"/>
            <a:ext cx="809316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WHAT IMPROVED</a:t>
            </a:r>
            <a:endParaRPr b="0" lang="en-US" sz="2100" strike="noStrike" u="none">
              <a:solidFill>
                <a:srgbClr val="000000"/>
              </a:solidFill>
              <a:effectLst/>
              <a:uFillTx/>
              <a:latin typeface="Arial"/>
            </a:endParaRPr>
          </a:p>
        </p:txBody>
      </p:sp>
      <p:sp>
        <p:nvSpPr>
          <p:cNvPr id="195" name="Text 5"/>
          <p:cNvSpPr/>
          <p:nvPr/>
        </p:nvSpPr>
        <p:spPr>
          <a:xfrm>
            <a:off x="952560" y="4232880"/>
            <a:ext cx="8093160" cy="20638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Genuine and impostor distributions did pull apart. Cleaner spectra let the encoder place a true speaker closer to their own centroid, and TAR climbed accordingly.</a:t>
            </a:r>
            <a:endParaRPr b="0" lang="en-US" sz="2850" strike="noStrike" u="none">
              <a:solidFill>
                <a:srgbClr val="000000"/>
              </a:solidFill>
              <a:effectLst/>
              <a:uFillTx/>
              <a:latin typeface="Arial"/>
            </a:endParaRPr>
          </a:p>
        </p:txBody>
      </p:sp>
      <p:sp>
        <p:nvSpPr>
          <p:cNvPr id="196" name="Text 6"/>
          <p:cNvSpPr/>
          <p:nvPr/>
        </p:nvSpPr>
        <p:spPr>
          <a:xfrm>
            <a:off x="9477360" y="3739320"/>
            <a:ext cx="8093160" cy="397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WHAT HELD IT BACK</a:t>
            </a:r>
            <a:endParaRPr b="0" lang="en-US" sz="2100" strike="noStrike" u="none">
              <a:solidFill>
                <a:srgbClr val="000000"/>
              </a:solidFill>
              <a:effectLst/>
              <a:uFillTx/>
              <a:latin typeface="Arial"/>
            </a:endParaRPr>
          </a:p>
        </p:txBody>
      </p:sp>
      <p:sp>
        <p:nvSpPr>
          <p:cNvPr id="197" name="Text 7"/>
          <p:cNvSpPr/>
          <p:nvPr/>
        </p:nvSpPr>
        <p:spPr>
          <a:xfrm>
            <a:off x="9477360" y="4232880"/>
            <a:ext cx="8093160" cy="25704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The separation isn't large enough under a simple MFCC + centroid front end. We held the threshold fixed at 75 across both conditions — our focus was the score distributions, not tuning the operating point.</a:t>
            </a:r>
            <a:endParaRPr b="0" lang="en-US" sz="2850" strike="noStrike" u="none">
              <a:solidFill>
                <a:srgbClr val="000000"/>
              </a:solidFill>
              <a:effectLst/>
              <a:uFillTx/>
              <a:latin typeface="Arial"/>
            </a:endParaRPr>
          </a:p>
        </p:txBody>
      </p:sp>
      <p:sp>
        <p:nvSpPr>
          <p:cNvPr id="198" name="Text 8"/>
          <p:cNvSpPr/>
          <p:nvPr/>
        </p:nvSpPr>
        <p:spPr>
          <a:xfrm>
            <a:off x="1324080" y="7413480"/>
            <a:ext cx="16491240" cy="15573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i="1" lang="en-US" sz="2850" strike="noStrike" u="none">
                <a:solidFill>
                  <a:srgbClr val="1a1a1f"/>
                </a:solidFill>
                <a:effectLst/>
                <a:uFillTx/>
                <a:latin typeface="Arial"/>
                <a:ea typeface="Arial"/>
              </a:rPr>
              <a:t>Plausible ceiling. </a:t>
            </a:r>
            <a:r>
              <a:rPr b="0" lang="en-US" sz="2850" strike="noStrike" u="none">
                <a:solidFill>
                  <a:srgbClr val="1a1a1f"/>
                </a:solidFill>
                <a:effectLst/>
                <a:uFillTx/>
                <a:latin typeface="Arial"/>
                <a:ea typeface="Arial"/>
              </a:rPr>
              <a:t>A stronger denoiser and a modern neural speaker embedding would likely yield a cleaner, more separable template space — and a threshold tuned for the denoised distribution would recover much of the apparent FAR increase.</a:t>
            </a:r>
            <a:endParaRPr b="0" lang="en-US" sz="2850" strike="noStrike" u="none">
              <a:solidFill>
                <a:srgbClr val="000000"/>
              </a:solidFill>
              <a:effectLst/>
              <a:uFillTx/>
              <a:latin typeface="Arial"/>
            </a:endParaRPr>
          </a:p>
        </p:txBody>
      </p:sp>
      <p:sp>
        <p:nvSpPr>
          <p:cNvPr id="199" name="Text 9"/>
          <p:cNvSpPr/>
          <p:nvPr/>
        </p:nvSpPr>
        <p:spPr>
          <a:xfrm>
            <a:off x="952560" y="9496440"/>
            <a:ext cx="1584360" cy="3326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DISCUSSION</a:t>
            </a:r>
            <a:endParaRPr b="0" lang="en-US" sz="1800" strike="noStrike" u="none">
              <a:solidFill>
                <a:srgbClr val="000000"/>
              </a:solidFill>
              <a:effectLst/>
              <a:uFillTx/>
              <a:latin typeface="Arial"/>
            </a:endParaRPr>
          </a:p>
        </p:txBody>
      </p:sp>
      <p:sp>
        <p:nvSpPr>
          <p:cNvPr id="200" name="Text 10"/>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12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
          <p:cNvSpPr/>
          <p:nvPr/>
        </p:nvSpPr>
        <p:spPr>
          <a:xfrm>
            <a:off x="0" y="0"/>
            <a:ext cx="18287640" cy="10286640"/>
          </a:xfrm>
          <a:prstGeom prst="rect">
            <a:avLst/>
          </a:prstGeom>
          <a:solidFill>
            <a:srgbClr val="4a886d"/>
          </a:solidFill>
          <a:ln w="0">
            <a:solidFill>
              <a:srgbClr val="3465a4"/>
            </a:solidFill>
          </a:ln>
        </p:spPr>
        <p:style>
          <a:lnRef idx="0"/>
          <a:fillRef idx="0"/>
          <a:effectRef idx="0"/>
          <a:fontRef idx="minor"/>
        </p:style>
        <p:txBody>
          <a:bodyPr lIns="90000" rIns="90000" tIns="45000" bIns="45000" anchor="ctr">
            <a:noAutofit/>
          </a:bodyPr>
          <a:p>
            <a:pPr>
              <a:lnSpc>
                <a:spcPct val="100000"/>
              </a:lnSpc>
            </a:pPr>
            <a:endParaRPr b="0" lang="en-US" sz="1800" strike="noStrike" u="none">
              <a:solidFill>
                <a:srgbClr val="ffffff"/>
              </a:solidFill>
              <a:effectLst/>
              <a:uFillTx/>
              <a:latin typeface="Arial"/>
            </a:endParaRPr>
          </a:p>
        </p:txBody>
      </p:sp>
      <p:sp>
        <p:nvSpPr>
          <p:cNvPr id="202" name="Text 0"/>
          <p:cNvSpPr/>
          <p:nvPr/>
        </p:nvSpPr>
        <p:spPr>
          <a:xfrm>
            <a:off x="952560" y="457200"/>
            <a:ext cx="18205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CONCLUSION</a:t>
            </a:r>
            <a:endParaRPr b="0" lang="en-US" sz="1800" strike="noStrike" u="none">
              <a:solidFill>
                <a:srgbClr val="000000"/>
              </a:solidFill>
              <a:effectLst/>
              <a:uFillTx/>
              <a:latin typeface="Arial"/>
            </a:endParaRPr>
          </a:p>
        </p:txBody>
      </p:sp>
      <p:sp>
        <p:nvSpPr>
          <p:cNvPr id="203"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13 / 14</a:t>
            </a:r>
            <a:endParaRPr b="0" lang="en-US" sz="1800" strike="noStrike" u="none">
              <a:solidFill>
                <a:srgbClr val="000000"/>
              </a:solidFill>
              <a:effectLst/>
              <a:uFillTx/>
              <a:latin typeface="Arial"/>
            </a:endParaRPr>
          </a:p>
        </p:txBody>
      </p:sp>
      <p:sp>
        <p:nvSpPr>
          <p:cNvPr id="204" name="Shape 2"/>
          <p:cNvSpPr/>
          <p:nvPr/>
        </p:nvSpPr>
        <p:spPr>
          <a:xfrm>
            <a:off x="952560" y="2430000"/>
            <a:ext cx="2090880" cy="504000"/>
          </a:xfrm>
          <a:prstGeom prst="roundRect">
            <a:avLst>
              <a:gd name="adj" fmla="val 50000"/>
            </a:avLst>
          </a:prstGeom>
          <a:noFill/>
          <a:ln w="9525">
            <a:solidFill>
              <a:srgbClr val="f4f1ea"/>
            </a:solidFill>
            <a:round/>
          </a:ln>
        </p:spPr>
        <p:style>
          <a:lnRef idx="0"/>
          <a:fillRef idx="0"/>
          <a:effectRef idx="0"/>
          <a:fontRef idx="minor"/>
        </p:style>
        <p:txBody>
          <a:bodyPr lIns="90000" rIns="90000" tIns="45000" bIns="45000" anchor="t">
            <a:noAutofit/>
          </a:bodyPr>
          <a:p>
            <a:pPr>
              <a:lnSpc>
                <a:spcPct val="100000"/>
              </a:lnSpc>
            </a:pPr>
            <a:endParaRPr b="0" lang="en-US" sz="1800" strike="noStrike" u="none">
              <a:solidFill>
                <a:srgbClr val="000000"/>
              </a:solidFill>
              <a:effectLst/>
              <a:uFillTx/>
              <a:latin typeface="Arial"/>
            </a:endParaRPr>
          </a:p>
        </p:txBody>
      </p:sp>
      <p:sp>
        <p:nvSpPr>
          <p:cNvPr id="205" name="Text 3"/>
          <p:cNvSpPr/>
          <p:nvPr/>
        </p:nvSpPr>
        <p:spPr>
          <a:xfrm>
            <a:off x="1152360" y="2534760"/>
            <a:ext cx="1767240" cy="33264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252" strike="noStrike" u="none">
                <a:solidFill>
                  <a:srgbClr val="f4f1ea"/>
                </a:solidFill>
                <a:effectLst/>
                <a:uFillTx/>
                <a:latin typeface="Arial"/>
                <a:ea typeface="Arial"/>
              </a:rPr>
              <a:t>CONCLUSION</a:t>
            </a:r>
            <a:endParaRPr b="0" lang="en-US" sz="1800" strike="noStrike" u="none">
              <a:solidFill>
                <a:srgbClr val="000000"/>
              </a:solidFill>
              <a:effectLst/>
              <a:uFillTx/>
              <a:latin typeface="Arial"/>
            </a:endParaRPr>
          </a:p>
        </p:txBody>
      </p:sp>
      <p:sp>
        <p:nvSpPr>
          <p:cNvPr id="206" name="Text 4"/>
          <p:cNvSpPr/>
          <p:nvPr/>
        </p:nvSpPr>
        <p:spPr>
          <a:xfrm>
            <a:off x="952560" y="3277800"/>
            <a:ext cx="16677720" cy="24033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5000"/>
              </a:lnSpc>
              <a:tabLst>
                <a:tab algn="l" pos="0"/>
              </a:tabLst>
            </a:pPr>
            <a:r>
              <a:rPr b="0" lang="en-US" sz="5400" spc="-82" strike="noStrike" u="none">
                <a:solidFill>
                  <a:srgbClr val="f4f1ea"/>
                </a:solidFill>
                <a:effectLst/>
                <a:uFillTx/>
                <a:latin typeface="Arial"/>
                <a:ea typeface="Arial"/>
              </a:rPr>
              <a:t>Denoising helped — the score distributions pulled apart. It just didn't help enough, under this pipeline, at a fixed threshold.</a:t>
            </a:r>
            <a:endParaRPr b="0" lang="en-US" sz="5400" strike="noStrike" u="none">
              <a:solidFill>
                <a:srgbClr val="000000"/>
              </a:solidFill>
              <a:effectLst/>
              <a:uFillTx/>
              <a:latin typeface="Arial"/>
            </a:endParaRPr>
          </a:p>
        </p:txBody>
      </p:sp>
      <p:sp>
        <p:nvSpPr>
          <p:cNvPr id="207" name="Shape 5"/>
          <p:cNvSpPr/>
          <p:nvPr/>
        </p:nvSpPr>
        <p:spPr>
          <a:xfrm>
            <a:off x="952560" y="6253200"/>
            <a:ext cx="3428280" cy="8640"/>
          </a:xfrm>
          <a:prstGeom prst="rect">
            <a:avLst/>
          </a:prstGeom>
          <a:solidFill>
            <a:srgbClr val="ece7dc">
              <a:alpha val="25000"/>
            </a:srgbClr>
          </a:solidFill>
          <a:ln w="0">
            <a:noFill/>
          </a:ln>
        </p:spPr>
        <p:style>
          <a:lnRef idx="0"/>
          <a:fillRef idx="0"/>
          <a:effectRef idx="0"/>
          <a:fontRef idx="minor"/>
        </p:style>
        <p:txBody>
          <a:bodyPr lIns="90000" rIns="90000" tIns="-35640" bIns="-35640" anchor="t">
            <a:noAutofit/>
          </a:bodyPr>
          <a:p>
            <a:pPr>
              <a:lnSpc>
                <a:spcPct val="100000"/>
              </a:lnSpc>
            </a:pPr>
            <a:endParaRPr b="0" lang="en-US" sz="1800" strike="noStrike" u="none">
              <a:solidFill>
                <a:srgbClr val="000000"/>
              </a:solidFill>
              <a:effectLst/>
              <a:uFillTx/>
              <a:latin typeface="Arial"/>
            </a:endParaRPr>
          </a:p>
        </p:txBody>
      </p:sp>
      <p:sp>
        <p:nvSpPr>
          <p:cNvPr id="208" name="Text 6"/>
          <p:cNvSpPr/>
          <p:nvPr/>
        </p:nvSpPr>
        <p:spPr>
          <a:xfrm>
            <a:off x="952560" y="645336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f4f1ea">
                    <a:alpha val="80000"/>
                  </a:srgbClr>
                </a:solidFill>
                <a:effectLst/>
                <a:uFillTx/>
                <a:latin typeface="Arial"/>
                <a:ea typeface="Arial"/>
              </a:rPr>
              <a:t>WHAT WE'D TRY NEXT</a:t>
            </a:r>
            <a:endParaRPr b="0" lang="en-US" sz="1800" strike="noStrike" u="none">
              <a:solidFill>
                <a:srgbClr val="000000"/>
              </a:solidFill>
              <a:effectLst/>
              <a:uFillTx/>
              <a:latin typeface="Arial"/>
            </a:endParaRPr>
          </a:p>
        </p:txBody>
      </p:sp>
      <p:sp>
        <p:nvSpPr>
          <p:cNvPr id="209" name="Text 7"/>
          <p:cNvSpPr/>
          <p:nvPr/>
        </p:nvSpPr>
        <p:spPr>
          <a:xfrm>
            <a:off x="952560" y="6843600"/>
            <a:ext cx="15696360" cy="10504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f4f1ea"/>
                </a:solidFill>
                <a:effectLst/>
                <a:uFillTx/>
                <a:latin typeface="Arial"/>
                <a:ea typeface="Arial"/>
              </a:rPr>
              <a:t>A stronger denoiser and a modern neural speaker embedding. Tune the threshold for the denoised score distribution rather than inheriting the raw one.</a:t>
            </a:r>
            <a:endParaRPr b="0" lang="en-US" sz="2850" strike="noStrike" u="none">
              <a:solidFill>
                <a:srgbClr val="000000"/>
              </a:solidFill>
              <a:effectLst/>
              <a:uFillTx/>
              <a:latin typeface="Arial"/>
            </a:endParaRPr>
          </a:p>
        </p:txBody>
      </p:sp>
      <p:sp>
        <p:nvSpPr>
          <p:cNvPr id="210" name="Text 8"/>
          <p:cNvSpPr/>
          <p:nvPr/>
        </p:nvSpPr>
        <p:spPr>
          <a:xfrm>
            <a:off x="952560" y="9496440"/>
            <a:ext cx="1584360" cy="33264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CONCLUSION</a:t>
            </a:r>
            <a:endParaRPr b="0" lang="en-US" sz="1800" strike="noStrike" u="none">
              <a:solidFill>
                <a:srgbClr val="000000"/>
              </a:solidFill>
              <a:effectLst/>
              <a:uFillTx/>
              <a:latin typeface="Arial"/>
            </a:endParaRPr>
          </a:p>
        </p:txBody>
      </p:sp>
      <p:sp>
        <p:nvSpPr>
          <p:cNvPr id="211" name="Text 9"/>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13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141a"/>
        </a:solidFill>
      </p:bgPr>
    </p:bg>
    <p:spTree>
      <p:nvGrpSpPr>
        <p:cNvPr id="1" name=""/>
        <p:cNvGrpSpPr/>
        <p:nvPr/>
      </p:nvGrpSpPr>
      <p:grpSpPr>
        <a:xfrm>
          <a:off x="0" y="0"/>
          <a:ext cx="0" cy="0"/>
          <a:chOff x="0" y="0"/>
          <a:chExt cx="0" cy="0"/>
        </a:xfrm>
      </p:grpSpPr>
      <p:sp>
        <p:nvSpPr>
          <p:cNvPr id="212" name="Text 0"/>
          <p:cNvSpPr/>
          <p:nvPr/>
        </p:nvSpPr>
        <p:spPr>
          <a:xfrm>
            <a:off x="952560" y="457200"/>
            <a:ext cx="7322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END</a:t>
            </a:r>
            <a:endParaRPr b="0" lang="en-US" sz="1800" strike="noStrike" u="none">
              <a:solidFill>
                <a:srgbClr val="ffffff"/>
              </a:solidFill>
              <a:effectLst/>
              <a:uFillTx/>
              <a:latin typeface="Arial"/>
            </a:endParaRPr>
          </a:p>
        </p:txBody>
      </p:sp>
      <p:sp>
        <p:nvSpPr>
          <p:cNvPr id="213" name="Text 1"/>
          <p:cNvSpPr/>
          <p:nvPr/>
        </p:nvSpPr>
        <p:spPr>
          <a:xfrm>
            <a:off x="16247160" y="457200"/>
            <a:ext cx="116388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14 / 14</a:t>
            </a:r>
            <a:endParaRPr b="0" lang="en-US" sz="1800" strike="noStrike" u="none">
              <a:solidFill>
                <a:srgbClr val="ffffff"/>
              </a:solidFill>
              <a:effectLst/>
              <a:uFillTx/>
              <a:latin typeface="Arial"/>
            </a:endParaRPr>
          </a:p>
        </p:txBody>
      </p:sp>
      <p:sp>
        <p:nvSpPr>
          <p:cNvPr id="214" name="Text 2"/>
          <p:cNvSpPr/>
          <p:nvPr/>
        </p:nvSpPr>
        <p:spPr>
          <a:xfrm>
            <a:off x="952560" y="3027240"/>
            <a:ext cx="1687392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f4f1ea"/>
                </a:solidFill>
                <a:effectLst/>
                <a:uFillTx/>
                <a:latin typeface="Arial"/>
                <a:ea typeface="Arial"/>
              </a:rPr>
              <a:t>QUESTIONS</a:t>
            </a:r>
            <a:endParaRPr b="0" lang="en-US" sz="1800" strike="noStrike" u="none">
              <a:solidFill>
                <a:srgbClr val="ffffff"/>
              </a:solidFill>
              <a:effectLst/>
              <a:uFillTx/>
              <a:latin typeface="Arial"/>
            </a:endParaRPr>
          </a:p>
        </p:txBody>
      </p:sp>
      <p:sp>
        <p:nvSpPr>
          <p:cNvPr id="215" name="Text 3"/>
          <p:cNvSpPr/>
          <p:nvPr/>
        </p:nvSpPr>
        <p:spPr>
          <a:xfrm>
            <a:off x="952560" y="3665160"/>
            <a:ext cx="16873920" cy="18471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95000"/>
              </a:lnSpc>
              <a:tabLst>
                <a:tab algn="l" pos="0"/>
              </a:tabLst>
            </a:pPr>
            <a:r>
              <a:rPr b="0" lang="en-US" sz="15000" spc="-451" strike="noStrike" u="none">
                <a:solidFill>
                  <a:srgbClr val="f4f1ea"/>
                </a:solidFill>
                <a:effectLst/>
                <a:uFillTx/>
                <a:latin typeface="Arial"/>
                <a:ea typeface="Arial"/>
              </a:rPr>
              <a:t>Thank you.</a:t>
            </a:r>
            <a:endParaRPr b="0" lang="en-US" sz="15000" strike="noStrike" u="none">
              <a:solidFill>
                <a:srgbClr val="ffffff"/>
              </a:solidFill>
              <a:effectLst/>
              <a:uFillTx/>
              <a:latin typeface="Arial"/>
            </a:endParaRPr>
          </a:p>
        </p:txBody>
      </p:sp>
      <p:sp>
        <p:nvSpPr>
          <p:cNvPr id="216" name="Shape 4"/>
          <p:cNvSpPr/>
          <p:nvPr/>
        </p:nvSpPr>
        <p:spPr>
          <a:xfrm>
            <a:off x="952560" y="6008400"/>
            <a:ext cx="3428280" cy="8640"/>
          </a:xfrm>
          <a:prstGeom prst="rect">
            <a:avLst/>
          </a:prstGeom>
          <a:solidFill>
            <a:srgbClr val="ece7dc">
              <a:alpha val="25000"/>
            </a:srgbClr>
          </a:solidFill>
          <a:ln w="0">
            <a:noFill/>
          </a:ln>
        </p:spPr>
        <p:style>
          <a:lnRef idx="0"/>
          <a:fillRef idx="0"/>
          <a:effectRef idx="0"/>
          <a:fontRef idx="minor"/>
        </p:style>
        <p:txBody>
          <a:bodyPr lIns="90000" rIns="90000" tIns="-35640" bIns="-35640" anchor="t">
            <a:noAutofit/>
          </a:bodyPr>
          <a:p>
            <a:pPr>
              <a:lnSpc>
                <a:spcPct val="100000"/>
              </a:lnSpc>
            </a:pPr>
            <a:endParaRPr b="0" lang="en-US" sz="1800" strike="noStrike" u="none">
              <a:solidFill>
                <a:srgbClr val="000000"/>
              </a:solidFill>
              <a:effectLst/>
              <a:uFillTx/>
              <a:latin typeface="Arial"/>
            </a:endParaRPr>
          </a:p>
        </p:txBody>
      </p:sp>
      <p:sp>
        <p:nvSpPr>
          <p:cNvPr id="217" name="Text 5"/>
          <p:cNvSpPr/>
          <p:nvPr/>
        </p:nvSpPr>
        <p:spPr>
          <a:xfrm>
            <a:off x="952560" y="6246720"/>
            <a:ext cx="13734360" cy="10504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ece7dc">
                    <a:alpha val="80000"/>
                  </a:srgbClr>
                </a:solidFill>
                <a:effectLst/>
                <a:uFillTx/>
                <a:latin typeface="Arial"/>
                <a:ea typeface="Arial"/>
              </a:rPr>
              <a:t>Denoiser: pretrained speech enhancement model by Rashadul Hasan Badhon. Data collected by the authors on and around campus.</a:t>
            </a:r>
            <a:endParaRPr b="0" lang="en-US" sz="2850" strike="noStrike" u="none">
              <a:solidFill>
                <a:srgbClr val="ffffff"/>
              </a:solidFill>
              <a:effectLst/>
              <a:uFillTx/>
              <a:latin typeface="Arial"/>
            </a:endParaRPr>
          </a:p>
        </p:txBody>
      </p:sp>
      <p:sp>
        <p:nvSpPr>
          <p:cNvPr id="218" name="Text 6"/>
          <p:cNvSpPr/>
          <p:nvPr/>
        </p:nvSpPr>
        <p:spPr>
          <a:xfrm>
            <a:off x="952560" y="9496440"/>
            <a:ext cx="528120" cy="33264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ece7dc">
                    <a:alpha val="55000"/>
                  </a:srgbClr>
                </a:solidFill>
                <a:effectLst/>
                <a:uFillTx/>
                <a:latin typeface="Arial"/>
                <a:ea typeface="Arial"/>
              </a:rPr>
              <a:t>Q&amp;A</a:t>
            </a:r>
            <a:endParaRPr b="0" lang="en-US" sz="1800" strike="noStrike" u="none">
              <a:solidFill>
                <a:srgbClr val="ffffff"/>
              </a:solidFill>
              <a:effectLst/>
              <a:uFillTx/>
              <a:latin typeface="Arial"/>
            </a:endParaRPr>
          </a:p>
        </p:txBody>
      </p:sp>
      <p:sp>
        <p:nvSpPr>
          <p:cNvPr id="219" name="Text 7"/>
          <p:cNvSpPr/>
          <p:nvPr/>
        </p:nvSpPr>
        <p:spPr>
          <a:xfrm>
            <a:off x="16279200" y="9496440"/>
            <a:ext cx="1131840" cy="3326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ece7dc">
                    <a:alpha val="55000"/>
                  </a:srgbClr>
                </a:solidFill>
                <a:effectLst/>
                <a:uFillTx/>
                <a:latin typeface="Arial"/>
                <a:ea typeface="Arial"/>
              </a:rPr>
              <a:t>14 / 14</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LibreOffice/25.2.2.2$Linux_X86_64 LibreOffice_project/520$Build-2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2026-04-22T15:31:34Z</dcterms:created>
  <dc:creator>PptxGenJS</dc:creator>
  <dc:description/>
  <dc:language>en-US</dc:language>
  <cp:lastModifiedBy/>
  <dcterms:modified xsi:type="dcterms:W3CDTF">2026-04-22T13:10:05Z</dcterms:modified>
  <cp:revision>3</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On-screen Show (16:9)</vt:lpwstr>
  </property>
  <property fmtid="{D5CDD505-2E9C-101B-9397-08002B2CF9AE}" pid="4" name="Slides">
    <vt:i4>14</vt:i4>
  </property>
</Properties>
</file>