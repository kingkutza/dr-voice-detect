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I'm Donald, and with me is Rhett. We spent this project looking at the effects of denoising on speaker recognition. The question sounds simple: if we clean up noisy audio before we try to identify a speaker, does the biometric system work better? The answer turned out to be more interesting than a straight yes or no, and that's what we want to walk through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this matters. Speaker recognition is a behavioral biometric trait — your voice is the signal, just like a fingerprint or an iris pattern is in other systems. It's used for phone banking, smart devices, forensic analysis, and access control. Unlike a fingerprint scanner though, a voice system has no controlled sensor environment — whatever noise is in the room goes into the sample. A small amount of background noise can move genuine and impostor scores closer together, which is exactly the separation biometrics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our pipeline, a quick primer on how a computer sees a voice, because this is where the audio side diverges from the biometric traits most of you worked with. A voice clip is a waveform — a pressure signal over time. But identity doesn't live in the raw waveform; it lives in how the energy is distributed across frequencies. To get at that, we run a short-time Fourier transform, which gives us a spectrogram: time along the x-axis, frequency up the y-axis, color showing how much energy is at each frequency at each moment. The horizontal stripes you'll see in our spectrograms are harmonics — integer multiples of the speaker's pitch — and their spacing plus the broader envelope above them carry most of the speaker-identifying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compress that spectrogram into a compact feature vector using MFCCs — Mel-Frequency Cepstral Coefficients. Don't let the name scare you. The mel scale is just a frequency axis warped to match human hearing — we hear differences at low frequencies much better than at high frequencies, so we give low frequencies more resolution. MFCCs summarize the overall shape of the spectrum in a small number of coefficients — we use thirteen. They're the standard front-end for speaker and speech recognition for decades now because they throw away pitch details while keeping the envelope that characterizes a voice. That's the analog of what a minutiae extractor does for a fingerprint — it turns the raw signal into a compact, comparable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biometric pipeline, which should feel familiar. Enrollment: we take five clean-ish clips from the speaker, compute MFCC features on each, and average them into a single reference template — what we call the centroid. Verification: a new clip comes in, we extract its features, and we compare it to the stored centroid using Euclidean distance. Below the threshold, the system accepts; above, it rejects. Threshold-based matching on a distance score — the same decision rule you'd use on any other biometric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research question is: does running a speech denoiser before we extract features actually improve verification performance? And if it helps, does it help uniformly, or does it trade one kind of error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Handing off to Rhett for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Our pipeline is deliberately controlled. Every sample is run through feature extraction two ways — raw, and denoised first — then compared to the same enrolled centroid with the same threshold. The only variable is whether denoising happened. For the denoiser we used Rashadul Hasan Badhon's pretrained speech enhancement model, off-the-shelf; we wanted to measure what a practitioner gets by dropping a standard tool in, not the ceiling of a custom-trained model. Data-wise, we collected everything ourselves around campus — two enrolled speakers, eighty samples total: five clips per speaker to enroll, and then five clips per speaker at each of seven different noise locations. So the evaluation set varies by speaker and by acoustic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metrics we report three rates at a fixed threshold of seventy-five Euclidean units. False Accept Rate — how often an impostor slips through. False Reject Rate — how often the true speaker is rejected. True Accept Rate — one minus FRR. Same rates you report for any biometric; nothing audio-specific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Visually, here's what denoising does to a single clip. On the left is the raw spectrogram: harmonic bands of the voice are visible but a lot of diffuse energy fills the background, especially at higher frequencies. On the right, after denoising: the harmonic stripes are sharper, the background haze is knocked down. If you stopped here you'd expect recognition to improve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score histograms side by side. Blue is genuine — a speaker's own clip against their centroid. Red is impostor. The dashed line is the threshold at seventy-five. On the left, raw audio: heavy overlap through the threshold region — that's where the errors come from. On the right, denoised: the distributions do separate more — genuine shifts a bit lower, impostor shifts higher — but the separation isn't large enough to solve the problem on its own. Denoising helped; it just didn't help enough under this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rates show the same story in another form. Blue is raw, green is denoised. True Accept Rate climbs from sixty-three percent to ninety-two, False Reject Rate falls from thirty-seven to eight — clear wins. False Accept Rate, though, rises from eleven to forty-three. Two things to be clear about here. First, the threshold was held fixed at seventy-five across both conditions; we did not re-tune it, because our focus this study was the distribution of scores, not the operating point. Second, the rates are threshold-dependent; the underlying separability improved, but at this fixed cut the system reads as much more permissive.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interpretation in biometric terms: denoising does increase separability of genuine versus impostor templates — the histograms widen apart — but not by enough to yield a solidly separable template space under a fixed threshold, especially with a simple MFCC-plus-centroid front end. A stronger denoiser or a modern neural speaker embedding would almost certainly give a larger improvement. What we can say confidently is that denoising is real help at the feature level, but if you keep a raw-calibrated threshold, you'll read out more false accepts — the operating point has to move with the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denoising does help. It sharpens voice structure, it pulls apart genuine and impostor distributions, and it recovers real speakers that raw noise was causing the system to reject. It just doesn't help enough, on its own, to let a fixed threshold carry the day. Better denoising and a stronger recognition back-end would plausibly close the remaining gap. In the meantime, the practical rule of thumb is: if you add denoising to the front of a biometric pipeline, re-tune the threshold for the new score distribution. Thanks — we used Rashadul Hasan Badhon's denoiser, collected our own campus data,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467942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RESEARCH PRESENTATION · 2026</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01 / 14</a:t>
            </a:r>
            <a:endParaRPr lang="en-US" sz="1800" dirty="0"/>
          </a:p>
        </p:txBody>
      </p:sp>
      <p:sp>
        <p:nvSpPr>
          <p:cNvPr id="4" name="Text 2"/>
          <p:cNvSpPr/>
          <p:nvPr/>
        </p:nvSpPr>
        <p:spPr>
          <a:xfrm>
            <a:off x="952500" y="2786063"/>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A STUDY IN VOICE BIOMETRICS</a:t>
            </a:r>
            <a:endParaRPr lang="en-US" sz="1800" dirty="0"/>
          </a:p>
        </p:txBody>
      </p:sp>
      <p:sp>
        <p:nvSpPr>
          <p:cNvPr id="5" name="Text 3"/>
          <p:cNvSpPr/>
          <p:nvPr/>
        </p:nvSpPr>
        <p:spPr>
          <a:xfrm>
            <a:off x="952500" y="3424238"/>
            <a:ext cx="15697200" cy="2278261"/>
          </a:xfrm>
          <a:prstGeom prst="rect">
            <a:avLst/>
          </a:prstGeom>
          <a:noFill/>
          <a:ln/>
        </p:spPr>
        <p:txBody>
          <a:bodyPr wrap="square" lIns="25400" tIns="25400" rIns="25400" bIns="25400" rtlCol="0" anchor="t">
            <a:normAutofit/>
          </a:bodyPr>
          <a:lstStyle/>
          <a:p>
            <a:pPr algn="l" indent="0" marL="0">
              <a:lnSpc>
                <a:spcPct val="98000"/>
              </a:lnSpc>
              <a:buNone/>
            </a:pPr>
            <a:r>
              <a:rPr lang="en-US" sz="9000" spc="-225" kern="0" dirty="0">
                <a:solidFill>
                  <a:srgbClr val="1A1A1F"/>
                </a:solidFill>
                <a:latin typeface="Fraunces" pitchFamily="34" charset="0"/>
                <a:ea typeface="Fraunces" pitchFamily="34" charset="-122"/>
                <a:cs typeface="Fraunces" pitchFamily="34" charset="-120"/>
              </a:rPr>
              <a:t>The Effects of Denoising on Speaker Recognition</a:t>
            </a:r>
            <a:endParaRPr lang="en-US" sz="9000" dirty="0"/>
          </a:p>
        </p:txBody>
      </p:sp>
      <p:sp>
        <p:nvSpPr>
          <p:cNvPr id="6" name="Shape 4"/>
          <p:cNvSpPr/>
          <p:nvPr/>
        </p:nvSpPr>
        <p:spPr>
          <a:xfrm>
            <a:off x="952500" y="6350198"/>
            <a:ext cx="4572000" cy="9525"/>
          </a:xfrm>
          <a:prstGeom prst="rect">
            <a:avLst/>
          </a:prstGeom>
          <a:solidFill>
            <a:srgbClr val="C9C2B2"/>
          </a:solidFill>
          <a:ln/>
        </p:spPr>
      </p:sp>
      <p:sp>
        <p:nvSpPr>
          <p:cNvPr id="7" name="Text 5"/>
          <p:cNvSpPr/>
          <p:nvPr/>
        </p:nvSpPr>
        <p:spPr>
          <a:xfrm>
            <a:off x="952500" y="6626423"/>
            <a:ext cx="2705621"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6B6B75"/>
                </a:solidFill>
                <a:latin typeface="JetBrains Mono" pitchFamily="34" charset="0"/>
                <a:ea typeface="JetBrains Mono" pitchFamily="34" charset="-122"/>
                <a:cs typeface="JetBrains Mono" pitchFamily="34" charset="-120"/>
              </a:rPr>
              <a:t>PRESENTER 01</a:t>
            </a:r>
            <a:endParaRPr lang="en-US" sz="2100" dirty="0"/>
          </a:p>
        </p:txBody>
      </p:sp>
      <p:sp>
        <p:nvSpPr>
          <p:cNvPr id="8" name="Text 6"/>
          <p:cNvSpPr/>
          <p:nvPr/>
        </p:nvSpPr>
        <p:spPr>
          <a:xfrm>
            <a:off x="952500" y="7062639"/>
            <a:ext cx="2705621" cy="476250"/>
          </a:xfrm>
          <a:prstGeom prst="rect">
            <a:avLst/>
          </a:prstGeom>
          <a:noFill/>
          <a:ln/>
        </p:spPr>
        <p:txBody>
          <a:bodyPr wrap="square" lIns="25400" tIns="25400" rIns="25400" bIns="25400" rtlCol="0" anchor="t">
            <a:normAutofit/>
          </a:bodyPr>
          <a:lstStyle/>
          <a:p>
            <a:pPr algn="l" indent="0" marL="0">
              <a:buNone/>
            </a:pPr>
            <a:r>
              <a:rPr lang="en-US" sz="2850" dirty="0">
                <a:solidFill>
                  <a:srgbClr val="1A1A1F"/>
                </a:solidFill>
                <a:latin typeface="Inter Tight" pitchFamily="34" charset="0"/>
                <a:ea typeface="Inter Tight" pitchFamily="34" charset="-122"/>
                <a:cs typeface="Inter Tight" pitchFamily="34" charset="-120"/>
              </a:rPr>
              <a:t>Donald Robinson</a:t>
            </a:r>
            <a:endParaRPr lang="en-US" sz="2850" dirty="0"/>
          </a:p>
        </p:txBody>
      </p:sp>
      <p:sp>
        <p:nvSpPr>
          <p:cNvPr id="9" name="Text 7"/>
          <p:cNvSpPr/>
          <p:nvPr/>
        </p:nvSpPr>
        <p:spPr>
          <a:xfrm>
            <a:off x="4912816" y="6626423"/>
            <a:ext cx="2444651"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6B6B75"/>
                </a:solidFill>
                <a:latin typeface="JetBrains Mono" pitchFamily="34" charset="0"/>
                <a:ea typeface="JetBrains Mono" pitchFamily="34" charset="-122"/>
                <a:cs typeface="JetBrains Mono" pitchFamily="34" charset="-120"/>
              </a:rPr>
              <a:t>PRESENTER 02</a:t>
            </a:r>
            <a:endParaRPr lang="en-US" sz="2100" dirty="0"/>
          </a:p>
        </p:txBody>
      </p:sp>
      <p:sp>
        <p:nvSpPr>
          <p:cNvPr id="10" name="Text 8"/>
          <p:cNvSpPr/>
          <p:nvPr/>
        </p:nvSpPr>
        <p:spPr>
          <a:xfrm>
            <a:off x="4912816" y="7062639"/>
            <a:ext cx="2444651" cy="476250"/>
          </a:xfrm>
          <a:prstGeom prst="rect">
            <a:avLst/>
          </a:prstGeom>
          <a:noFill/>
          <a:ln/>
        </p:spPr>
        <p:txBody>
          <a:bodyPr wrap="square" lIns="25400" tIns="25400" rIns="25400" bIns="25400" rtlCol="0" anchor="t">
            <a:normAutofit/>
          </a:bodyPr>
          <a:lstStyle/>
          <a:p>
            <a:pPr algn="l" indent="0" marL="0">
              <a:buNone/>
            </a:pPr>
            <a:r>
              <a:rPr lang="en-US" sz="2850" dirty="0">
                <a:solidFill>
                  <a:srgbClr val="1A1A1F"/>
                </a:solidFill>
                <a:latin typeface="Inter Tight" pitchFamily="34" charset="0"/>
                <a:ea typeface="Inter Tight" pitchFamily="34" charset="-122"/>
                <a:cs typeface="Inter Tight" pitchFamily="34" charset="-120"/>
              </a:rPr>
              <a:t>Rhett Wood</a:t>
            </a:r>
            <a:endParaRPr lang="en-US" sz="2850" dirty="0"/>
          </a:p>
        </p:txBody>
      </p:sp>
      <p:sp>
        <p:nvSpPr>
          <p:cNvPr id="11" name="Text 9"/>
          <p:cNvSpPr/>
          <p:nvPr/>
        </p:nvSpPr>
        <p:spPr>
          <a:xfrm>
            <a:off x="952500" y="9496425"/>
            <a:ext cx="7303950"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THE EFFECTS OF DENOISING ON SPEAKER RECOGNITION</a:t>
            </a:r>
            <a:endParaRPr lang="en-US" sz="1800" dirty="0"/>
          </a:p>
        </p:txBody>
      </p:sp>
      <p:sp>
        <p:nvSpPr>
          <p:cNvPr id="12" name="Text 10"/>
          <p:cNvSpPr/>
          <p:nvPr/>
        </p:nvSpPr>
        <p:spPr>
          <a:xfrm>
            <a:off x="16128355" y="9496425"/>
            <a:ext cx="1283345"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APR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MOTIVATION</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02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MOTIVATION</a:t>
            </a:r>
            <a:endParaRPr lang="en-US" sz="1800" dirty="0"/>
          </a:p>
        </p:txBody>
      </p:sp>
      <p:sp>
        <p:nvSpPr>
          <p:cNvPr id="5" name="Text 3"/>
          <p:cNvSpPr/>
          <p:nvPr/>
        </p:nvSpPr>
        <p:spPr>
          <a:xfrm>
            <a:off x="952500" y="1685925"/>
            <a:ext cx="15697200" cy="798165"/>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A1A1F"/>
                </a:solidFill>
                <a:latin typeface="Inter Tight" pitchFamily="34" charset="0"/>
                <a:ea typeface="Inter Tight" pitchFamily="34" charset="-122"/>
                <a:cs typeface="Inter Tight" pitchFamily="34" charset="-120"/>
              </a:rPr>
              <a:t>Voice is a biometric with no controlled sensor.</a:t>
            </a:r>
            <a:endParaRPr lang="en-US" sz="5700" dirty="0"/>
          </a:p>
        </p:txBody>
      </p:sp>
      <p:sp>
        <p:nvSpPr>
          <p:cNvPr id="6" name="Text 4"/>
          <p:cNvSpPr/>
          <p:nvPr/>
        </p:nvSpPr>
        <p:spPr>
          <a:xfrm>
            <a:off x="952500" y="2979390"/>
            <a:ext cx="14716125" cy="1557933"/>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A fingerprint reader or iris camera captures its signal in a tiny, controlled volume. A microphone has no such luxury — whatever else is happening in the room is captured alongside the voice.</a:t>
            </a:r>
            <a:endParaRPr lang="en-US" sz="2850" dirty="0"/>
          </a:p>
        </p:txBody>
      </p:sp>
      <p:sp>
        <p:nvSpPr>
          <p:cNvPr id="7" name="Text 5"/>
          <p:cNvSpPr/>
          <p:nvPr/>
        </p:nvSpPr>
        <p:spPr>
          <a:xfrm>
            <a:off x="952500" y="4880223"/>
            <a:ext cx="14716125"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That noise doesn't just look messy; it measurably pulls genuine and impostor scores toward each other, narrowing the separation that any threshold-based biometric relies on.</a:t>
            </a:r>
            <a:endParaRPr lang="en-US" sz="2850" dirty="0"/>
          </a:p>
        </p:txBody>
      </p:sp>
      <p:sp>
        <p:nvSpPr>
          <p:cNvPr id="8" name="Text 6"/>
          <p:cNvSpPr/>
          <p:nvPr/>
        </p:nvSpPr>
        <p:spPr>
          <a:xfrm>
            <a:off x="1323975" y="6541145"/>
            <a:ext cx="1471612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i="1" dirty="0">
                <a:solidFill>
                  <a:srgbClr val="1A1A1F"/>
                </a:solidFill>
                <a:latin typeface="Inter Tight" pitchFamily="34" charset="0"/>
                <a:ea typeface="Inter Tight" pitchFamily="34" charset="-122"/>
                <a:cs typeface="Inter Tight" pitchFamily="34" charset="-120"/>
              </a:rPr>
              <a:t>If you can't control the sensor, can you repair the signal after the fact?</a:t>
            </a:r>
            <a:endParaRPr lang="en-US" sz="2850" dirty="0"/>
          </a:p>
        </p:txBody>
      </p:sp>
      <p:sp>
        <p:nvSpPr>
          <p:cNvPr id="9" name="Text 7"/>
          <p:cNvSpPr/>
          <p:nvPr/>
        </p:nvSpPr>
        <p:spPr>
          <a:xfrm>
            <a:off x="952500" y="9496425"/>
            <a:ext cx="1585020"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MOTIVATION</a:t>
            </a:r>
            <a:endParaRPr lang="en-US" sz="1800" dirty="0"/>
          </a:p>
        </p:txBody>
      </p:sp>
      <p:sp>
        <p:nvSpPr>
          <p:cNvPr id="10" name="Text 8"/>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02 / 14</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MOTIVATION</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03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THE PROBLEM, IN BIOMETRIC TERMS</a:t>
            </a:r>
            <a:endParaRPr lang="en-US" sz="1800" dirty="0"/>
          </a:p>
        </p:txBody>
      </p:sp>
      <p:sp>
        <p:nvSpPr>
          <p:cNvPr id="5" name="Text 3"/>
          <p:cNvSpPr/>
          <p:nvPr/>
        </p:nvSpPr>
        <p:spPr>
          <a:xfrm>
            <a:off x="952500" y="1685925"/>
            <a:ext cx="15697200" cy="137904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Background noise compresses the gap between genuine and impostor scores.</a:t>
            </a:r>
            <a:endParaRPr lang="en-US" sz="4800" dirty="0"/>
          </a:p>
        </p:txBody>
      </p:sp>
      <p:sp>
        <p:nvSpPr>
          <p:cNvPr id="6" name="Text 4"/>
          <p:cNvSpPr/>
          <p:nvPr/>
        </p:nvSpPr>
        <p:spPr>
          <a:xfrm>
            <a:off x="952500" y="3788866"/>
            <a:ext cx="531083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000000"/>
                </a:solidFill>
                <a:latin typeface="Fraunces" pitchFamily="34" charset="0"/>
                <a:ea typeface="Fraunces" pitchFamily="34" charset="-122"/>
                <a:cs typeface="Fraunces" pitchFamily="34" charset="-120"/>
              </a:rPr>
              <a:t>01</a:t>
            </a:r>
            <a:endParaRPr lang="en-US" sz="4200" dirty="0"/>
          </a:p>
        </p:txBody>
      </p:sp>
      <p:sp>
        <p:nvSpPr>
          <p:cNvPr id="7" name="Text 5"/>
          <p:cNvSpPr/>
          <p:nvPr/>
        </p:nvSpPr>
        <p:spPr>
          <a:xfrm>
            <a:off x="952500" y="4474666"/>
            <a:ext cx="5310835" cy="1557933"/>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Field audio carries traffic, HVAC, crowd, and microphone artefacts on top of the voice.</a:t>
            </a:r>
            <a:endParaRPr lang="en-US" sz="2850" dirty="0"/>
          </a:p>
        </p:txBody>
      </p:sp>
      <p:sp>
        <p:nvSpPr>
          <p:cNvPr id="8" name="Text 6"/>
          <p:cNvSpPr/>
          <p:nvPr/>
        </p:nvSpPr>
        <p:spPr>
          <a:xfrm>
            <a:off x="6565850" y="3788866"/>
            <a:ext cx="531083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000000"/>
                </a:solidFill>
                <a:latin typeface="Fraunces" pitchFamily="34" charset="0"/>
                <a:ea typeface="Fraunces" pitchFamily="34" charset="-122"/>
                <a:cs typeface="Fraunces" pitchFamily="34" charset="-120"/>
              </a:rPr>
              <a:t>02</a:t>
            </a:r>
            <a:endParaRPr lang="en-US" sz="4200" dirty="0"/>
          </a:p>
        </p:txBody>
      </p:sp>
      <p:sp>
        <p:nvSpPr>
          <p:cNvPr id="9" name="Text 7"/>
          <p:cNvSpPr/>
          <p:nvPr/>
        </p:nvSpPr>
        <p:spPr>
          <a:xfrm>
            <a:off x="6565850" y="4474666"/>
            <a:ext cx="5310835" cy="1557933"/>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The features we extract start describing the </a:t>
            </a:r>
            <a:pPr algn="l" indent="0" marL="0">
              <a:lnSpc>
                <a:spcPct val="140000"/>
              </a:lnSpc>
              <a:buNone/>
            </a:pPr>
            <a:r>
              <a:rPr lang="en-US" sz="2850" i="1" dirty="0">
                <a:solidFill>
                  <a:srgbClr val="1A1A1F"/>
                </a:solidFill>
                <a:latin typeface="Inter Tight" pitchFamily="34" charset="0"/>
                <a:ea typeface="Inter Tight" pitchFamily="34" charset="-122"/>
                <a:cs typeface="Inter Tight" pitchFamily="34" charset="-120"/>
              </a:rPr>
              <a:t>room </a:t>
            </a:r>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alongside the voice.</a:t>
            </a:r>
            <a:endParaRPr lang="en-US" sz="2850" dirty="0"/>
          </a:p>
        </p:txBody>
      </p:sp>
      <p:sp>
        <p:nvSpPr>
          <p:cNvPr id="10" name="Text 8"/>
          <p:cNvSpPr/>
          <p:nvPr/>
        </p:nvSpPr>
        <p:spPr>
          <a:xfrm>
            <a:off x="12179201" y="3788866"/>
            <a:ext cx="531083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000000"/>
                </a:solidFill>
                <a:latin typeface="Fraunces" pitchFamily="34" charset="0"/>
                <a:ea typeface="Fraunces" pitchFamily="34" charset="-122"/>
                <a:cs typeface="Fraunces" pitchFamily="34" charset="-120"/>
              </a:rPr>
              <a:t>03</a:t>
            </a:r>
            <a:endParaRPr lang="en-US" sz="4200" dirty="0"/>
          </a:p>
        </p:txBody>
      </p:sp>
      <p:sp>
        <p:nvSpPr>
          <p:cNvPr id="11" name="Text 9"/>
          <p:cNvSpPr/>
          <p:nvPr/>
        </p:nvSpPr>
        <p:spPr>
          <a:xfrm>
            <a:off x="12179201" y="4474666"/>
            <a:ext cx="5310835" cy="1557933"/>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Two recordings of the same person in different places can look like two different people.</a:t>
            </a:r>
            <a:endParaRPr lang="en-US" sz="2850" dirty="0"/>
          </a:p>
        </p:txBody>
      </p:sp>
      <p:sp>
        <p:nvSpPr>
          <p:cNvPr id="12" name="Text 10"/>
          <p:cNvSpPr/>
          <p:nvPr/>
        </p:nvSpPr>
        <p:spPr>
          <a:xfrm>
            <a:off x="952500" y="9496425"/>
            <a:ext cx="1585020"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MOTIVATION</a:t>
            </a:r>
            <a:endParaRPr lang="en-US" sz="1800" dirty="0"/>
          </a:p>
        </p:txBody>
      </p:sp>
      <p:sp>
        <p:nvSpPr>
          <p:cNvPr id="13" name="Text 11"/>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03 / 14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BACKGROUND</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04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BACKGROUND · HOW VOICE IS REPRESENTED</a:t>
            </a:r>
            <a:endParaRPr lang="en-US" sz="1800" dirty="0"/>
          </a:p>
        </p:txBody>
      </p:sp>
      <p:sp>
        <p:nvSpPr>
          <p:cNvPr id="5" name="Text 3"/>
          <p:cNvSpPr/>
          <p:nvPr/>
        </p:nvSpPr>
        <p:spPr>
          <a:xfrm>
            <a:off x="952500" y="1685925"/>
            <a:ext cx="16678275"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Identity doesn't live in the waveform — it lives in the spectrum.</a:t>
            </a:r>
            <a:endParaRPr lang="en-US" sz="4800" dirty="0"/>
          </a:p>
        </p:txBody>
      </p:sp>
      <p:sp>
        <p:nvSpPr>
          <p:cNvPr id="6" name="Text 4"/>
          <p:cNvSpPr/>
          <p:nvPr/>
        </p:nvSpPr>
        <p:spPr>
          <a:xfrm>
            <a:off x="952500" y="3270796"/>
            <a:ext cx="8093869"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6B6B75"/>
                </a:solidFill>
                <a:latin typeface="JetBrains Mono" pitchFamily="34" charset="0"/>
                <a:ea typeface="JetBrains Mono" pitchFamily="34" charset="-122"/>
                <a:cs typeface="JetBrains Mono" pitchFamily="34" charset="-120"/>
              </a:rPr>
              <a:t>SPECTROGRAM</a:t>
            </a:r>
            <a:endParaRPr lang="en-US" sz="2100" dirty="0"/>
          </a:p>
        </p:txBody>
      </p:sp>
      <p:sp>
        <p:nvSpPr>
          <p:cNvPr id="7" name="Text 5"/>
          <p:cNvSpPr/>
          <p:nvPr/>
        </p:nvSpPr>
        <p:spPr>
          <a:xfrm>
            <a:off x="952500" y="3821311"/>
            <a:ext cx="8093869" cy="144675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A short-time Fourier transform converts a waveform into a spectrogram — time on the x-axis, frequency on the y-axis, brightness showing energy at each frequency.</a:t>
            </a:r>
            <a:endParaRPr lang="en-US" sz="2550" dirty="0"/>
          </a:p>
        </p:txBody>
      </p:sp>
      <p:sp>
        <p:nvSpPr>
          <p:cNvPr id="8" name="Text 6"/>
          <p:cNvSpPr/>
          <p:nvPr/>
        </p:nvSpPr>
        <p:spPr>
          <a:xfrm>
            <a:off x="952500" y="5496669"/>
            <a:ext cx="8093869" cy="144675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The horizontal stripes are </a:t>
            </a:r>
            <a:pPr algn="l" indent="0" marL="0">
              <a:lnSpc>
                <a:spcPct val="145000"/>
              </a:lnSpc>
              <a:buNone/>
            </a:pPr>
            <a:r>
              <a:rPr lang="en-US" sz="2550" i="1" dirty="0">
                <a:solidFill>
                  <a:srgbClr val="1A1A1F"/>
                </a:solidFill>
                <a:latin typeface="Inter Tight" pitchFamily="34" charset="0"/>
                <a:ea typeface="Inter Tight" pitchFamily="34" charset="-122"/>
                <a:cs typeface="Inter Tight" pitchFamily="34" charset="-120"/>
              </a:rPr>
              <a:t>harmonics </a:t>
            </a:r>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of the speaker's pitch. Their spacing and the envelope above them carry most of the identifying information.</a:t>
            </a:r>
            <a:endParaRPr lang="en-US" sz="2550" dirty="0"/>
          </a:p>
        </p:txBody>
      </p:sp>
      <p:sp>
        <p:nvSpPr>
          <p:cNvPr id="9" name="Text 7"/>
          <p:cNvSpPr/>
          <p:nvPr/>
        </p:nvSpPr>
        <p:spPr>
          <a:xfrm>
            <a:off x="9477375" y="3270796"/>
            <a:ext cx="8093869"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6B6B75"/>
                </a:solidFill>
                <a:latin typeface="JetBrains Mono" pitchFamily="34" charset="0"/>
                <a:ea typeface="JetBrains Mono" pitchFamily="34" charset="-122"/>
                <a:cs typeface="JetBrains Mono" pitchFamily="34" charset="-120"/>
              </a:rPr>
              <a:t>MFCCS — OUR FEATURE TEMPLATE</a:t>
            </a:r>
            <a:endParaRPr lang="en-US" sz="2100" dirty="0"/>
          </a:p>
        </p:txBody>
      </p:sp>
      <p:sp>
        <p:nvSpPr>
          <p:cNvPr id="10" name="Text 8"/>
          <p:cNvSpPr/>
          <p:nvPr/>
        </p:nvSpPr>
        <p:spPr>
          <a:xfrm>
            <a:off x="9477375" y="3821311"/>
            <a:ext cx="8093869" cy="144675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We compress that spectrum into </a:t>
            </a:r>
            <a:pPr algn="l" indent="0" marL="0">
              <a:lnSpc>
                <a:spcPct val="145000"/>
              </a:lnSpc>
              <a:buNone/>
            </a:pPr>
            <a:r>
              <a:rPr lang="en-US" sz="2550" b="1" dirty="0">
                <a:solidFill>
                  <a:srgbClr val="1A1A1F"/>
                </a:solidFill>
                <a:latin typeface="Inter Tight" pitchFamily="34" charset="0"/>
                <a:ea typeface="Inter Tight" pitchFamily="34" charset="-122"/>
                <a:cs typeface="Inter Tight" pitchFamily="34" charset="-120"/>
              </a:rPr>
              <a:t>13 MFCCs </a:t>
            </a:r>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 the energy in 13 frequency bands, warped to the </a:t>
            </a:r>
            <a:pPr algn="l" indent="0" marL="0">
              <a:lnSpc>
                <a:spcPct val="145000"/>
              </a:lnSpc>
              <a:buNone/>
            </a:pPr>
            <a:r>
              <a:rPr lang="en-US" sz="2550" i="1" dirty="0">
                <a:solidFill>
                  <a:srgbClr val="1A1A1F"/>
                </a:solidFill>
                <a:latin typeface="Inter Tight" pitchFamily="34" charset="0"/>
                <a:ea typeface="Inter Tight" pitchFamily="34" charset="-122"/>
                <a:cs typeface="Inter Tight" pitchFamily="34" charset="-120"/>
              </a:rPr>
              <a:t>mel scale </a:t>
            </a:r>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 the frequency axis humans actually perceive linearly.</a:t>
            </a:r>
            <a:endParaRPr lang="en-US" sz="2550" dirty="0"/>
          </a:p>
        </p:txBody>
      </p:sp>
      <p:sp>
        <p:nvSpPr>
          <p:cNvPr id="11" name="Text 9"/>
          <p:cNvSpPr/>
          <p:nvPr/>
        </p:nvSpPr>
        <p:spPr>
          <a:xfrm>
            <a:off x="9477375" y="5496669"/>
            <a:ext cx="8093869" cy="1916311"/>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1A1A1F"/>
                </a:solidFill>
                <a:latin typeface="Inter Tight" pitchFamily="34" charset="0"/>
                <a:ea typeface="Inter Tight" pitchFamily="34" charset="-122"/>
                <a:cs typeface="Inter Tight" pitchFamily="34" charset="-120"/>
              </a:rPr>
              <a:t>They discard pitch and keep the spectral envelope that characterizes the voice. They play the same role a minutiae extractor plays for a fingerprint — a compact, comparable template.</a:t>
            </a:r>
            <a:endParaRPr lang="en-US" sz="2550" dirty="0"/>
          </a:p>
        </p:txBody>
      </p:sp>
      <p:sp>
        <p:nvSpPr>
          <p:cNvPr id="12" name="Text 10"/>
          <p:cNvSpPr/>
          <p:nvPr/>
        </p:nvSpPr>
        <p:spPr>
          <a:xfrm>
            <a:off x="952500" y="9496425"/>
            <a:ext cx="4195935"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BACKGROUND · REPRESENTATION</a:t>
            </a:r>
            <a:endParaRPr lang="en-US" sz="1800" dirty="0"/>
          </a:p>
        </p:txBody>
      </p:sp>
      <p:sp>
        <p:nvSpPr>
          <p:cNvPr id="13" name="Text 11"/>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04 / 14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BACKGROUND</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05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BACKGROUND · DECISION PIPELINE</a:t>
            </a:r>
            <a:endParaRPr lang="en-US" sz="1800" dirty="0"/>
          </a:p>
        </p:txBody>
      </p:sp>
      <p:sp>
        <p:nvSpPr>
          <p:cNvPr id="5" name="Text 3"/>
          <p:cNvSpPr/>
          <p:nvPr/>
        </p:nvSpPr>
        <p:spPr>
          <a:xfrm>
            <a:off x="952500" y="1685925"/>
            <a:ext cx="16678275" cy="137904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A standard biometric pipeline — with audio features as the template.</a:t>
            </a:r>
            <a:endParaRPr lang="en-US" sz="4800" dirty="0"/>
          </a:p>
        </p:txBody>
      </p:sp>
      <p:sp>
        <p:nvSpPr>
          <p:cNvPr id="6" name="Text 4"/>
          <p:cNvSpPr/>
          <p:nvPr/>
        </p:nvSpPr>
        <p:spPr>
          <a:xfrm>
            <a:off x="952500" y="3712666"/>
            <a:ext cx="8044815"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000000"/>
                </a:solidFill>
                <a:latin typeface="JetBrains Mono" pitchFamily="34" charset="0"/>
                <a:ea typeface="JetBrains Mono" pitchFamily="34" charset="-122"/>
                <a:cs typeface="JetBrains Mono" pitchFamily="34" charset="-120"/>
              </a:rPr>
              <a:t>ENROLLMENT</a:t>
            </a:r>
            <a:endParaRPr lang="en-US" sz="2100" dirty="0"/>
          </a:p>
        </p:txBody>
      </p:sp>
      <p:sp>
        <p:nvSpPr>
          <p:cNvPr id="7" name="Text 5"/>
          <p:cNvSpPr/>
          <p:nvPr/>
        </p:nvSpPr>
        <p:spPr>
          <a:xfrm>
            <a:off x="952500" y="4263182"/>
            <a:ext cx="804481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Extract MFCCs from </a:t>
            </a:r>
            <a:pPr algn="l" indent="0" marL="0">
              <a:lnSpc>
                <a:spcPct val="140000"/>
              </a:lnSpc>
              <a:buNone/>
            </a:pPr>
            <a:r>
              <a:rPr lang="en-US" sz="2850" b="1" dirty="0">
                <a:solidFill>
                  <a:srgbClr val="1A1A1F"/>
                </a:solidFill>
                <a:latin typeface="Inter Tight" pitchFamily="34" charset="0"/>
                <a:ea typeface="Inter Tight" pitchFamily="34" charset="-122"/>
                <a:cs typeface="Inter Tight" pitchFamily="34" charset="-120"/>
              </a:rPr>
              <a:t>5 clean clips </a:t>
            </a:r>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per speaker.</a:t>
            </a:r>
            <a:endParaRPr lang="en-US" sz="2850" dirty="0"/>
          </a:p>
        </p:txBody>
      </p:sp>
      <p:sp>
        <p:nvSpPr>
          <p:cNvPr id="8" name="Text 6"/>
          <p:cNvSpPr/>
          <p:nvPr/>
        </p:nvSpPr>
        <p:spPr>
          <a:xfrm>
            <a:off x="952500" y="4998393"/>
            <a:ext cx="8044815"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Average them into a single </a:t>
            </a:r>
            <a:pPr algn="l" indent="0" marL="0">
              <a:lnSpc>
                <a:spcPct val="140000"/>
              </a:lnSpc>
              <a:buNone/>
            </a:pPr>
            <a:r>
              <a:rPr lang="en-US" sz="2850" b="1" dirty="0">
                <a:solidFill>
                  <a:srgbClr val="1A1A1F"/>
                </a:solidFill>
                <a:latin typeface="Inter Tight" pitchFamily="34" charset="0"/>
                <a:ea typeface="Inter Tight" pitchFamily="34" charset="-122"/>
                <a:cs typeface="Inter Tight" pitchFamily="34" charset="-120"/>
              </a:rPr>
              <a:t>centroid </a:t>
            </a:r>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 the reference template for that identity.</a:t>
            </a:r>
            <a:endParaRPr lang="en-US" sz="2850" dirty="0"/>
          </a:p>
        </p:txBody>
      </p:sp>
      <p:sp>
        <p:nvSpPr>
          <p:cNvPr id="9" name="Text 7"/>
          <p:cNvSpPr/>
          <p:nvPr/>
        </p:nvSpPr>
        <p:spPr>
          <a:xfrm>
            <a:off x="952500" y="6240214"/>
            <a:ext cx="804481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Stored once, per speaker.</a:t>
            </a:r>
            <a:endParaRPr lang="en-US" sz="2850" dirty="0"/>
          </a:p>
        </p:txBody>
      </p:sp>
      <p:sp>
        <p:nvSpPr>
          <p:cNvPr id="10" name="Text 8"/>
          <p:cNvSpPr/>
          <p:nvPr/>
        </p:nvSpPr>
        <p:spPr>
          <a:xfrm>
            <a:off x="9525000" y="3712666"/>
            <a:ext cx="8044815"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000000"/>
                </a:solidFill>
                <a:latin typeface="JetBrains Mono" pitchFamily="34" charset="0"/>
                <a:ea typeface="JetBrains Mono" pitchFamily="34" charset="-122"/>
                <a:cs typeface="JetBrains Mono" pitchFamily="34" charset="-120"/>
              </a:rPr>
              <a:t>VERIFICATION</a:t>
            </a:r>
            <a:endParaRPr lang="en-US" sz="2100" dirty="0"/>
          </a:p>
        </p:txBody>
      </p:sp>
      <p:sp>
        <p:nvSpPr>
          <p:cNvPr id="11" name="Text 9"/>
          <p:cNvSpPr/>
          <p:nvPr/>
        </p:nvSpPr>
        <p:spPr>
          <a:xfrm>
            <a:off x="9525000" y="4263182"/>
            <a:ext cx="804481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Extract MFCCs from the incoming clip.</a:t>
            </a:r>
            <a:endParaRPr lang="en-US" sz="2850" dirty="0"/>
          </a:p>
        </p:txBody>
      </p:sp>
      <p:sp>
        <p:nvSpPr>
          <p:cNvPr id="12" name="Text 10"/>
          <p:cNvSpPr/>
          <p:nvPr/>
        </p:nvSpPr>
        <p:spPr>
          <a:xfrm>
            <a:off x="9525000" y="4998393"/>
            <a:ext cx="8044815"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Compute </a:t>
            </a:r>
            <a:pPr algn="l" indent="0" marL="0">
              <a:lnSpc>
                <a:spcPct val="140000"/>
              </a:lnSpc>
              <a:buNone/>
            </a:pPr>
            <a:r>
              <a:rPr lang="en-US" sz="2850" b="1" dirty="0">
                <a:solidFill>
                  <a:srgbClr val="1A1A1F"/>
                </a:solidFill>
                <a:latin typeface="Inter Tight" pitchFamily="34" charset="0"/>
                <a:ea typeface="Inter Tight" pitchFamily="34" charset="-122"/>
                <a:cs typeface="Inter Tight" pitchFamily="34" charset="-120"/>
              </a:rPr>
              <a:t>Euclidean distance </a:t>
            </a:r>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to the stored centroid.</a:t>
            </a:r>
            <a:endParaRPr lang="en-US" sz="2850" dirty="0"/>
          </a:p>
        </p:txBody>
      </p:sp>
      <p:sp>
        <p:nvSpPr>
          <p:cNvPr id="13" name="Text 11"/>
          <p:cNvSpPr/>
          <p:nvPr/>
        </p:nvSpPr>
        <p:spPr>
          <a:xfrm>
            <a:off x="9525000" y="6240214"/>
            <a:ext cx="8044815" cy="544711"/>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Below threshold → accept. Above → reject.</a:t>
            </a:r>
            <a:endParaRPr lang="en-US" sz="2850" dirty="0"/>
          </a:p>
        </p:txBody>
      </p:sp>
      <p:sp>
        <p:nvSpPr>
          <p:cNvPr id="14" name="Shape 12"/>
          <p:cNvSpPr/>
          <p:nvPr/>
        </p:nvSpPr>
        <p:spPr>
          <a:xfrm>
            <a:off x="952500" y="7127825"/>
            <a:ext cx="16383000" cy="9525"/>
          </a:xfrm>
          <a:prstGeom prst="rect">
            <a:avLst/>
          </a:prstGeom>
          <a:solidFill>
            <a:srgbClr val="C9C2B2"/>
          </a:solidFill>
          <a:ln/>
        </p:spPr>
      </p:sp>
      <p:sp>
        <p:nvSpPr>
          <p:cNvPr id="15" name="Text 13"/>
          <p:cNvSpPr/>
          <p:nvPr/>
        </p:nvSpPr>
        <p:spPr>
          <a:xfrm>
            <a:off x="952500" y="7308800"/>
            <a:ext cx="1687449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6B6B75"/>
                </a:solidFill>
                <a:latin typeface="Inter Tight" pitchFamily="34" charset="0"/>
                <a:ea typeface="Inter Tight" pitchFamily="34" charset="-122"/>
                <a:cs typeface="Inter Tight" pitchFamily="34" charset="-120"/>
              </a:rPr>
              <a:t>Same decision logic as any threshold-based biometric — only the template is built from sound.</a:t>
            </a:r>
            <a:endParaRPr lang="en-US" sz="2100" dirty="0"/>
          </a:p>
        </p:txBody>
      </p:sp>
      <p:sp>
        <p:nvSpPr>
          <p:cNvPr id="16" name="Text 14"/>
          <p:cNvSpPr/>
          <p:nvPr/>
        </p:nvSpPr>
        <p:spPr>
          <a:xfrm>
            <a:off x="952500" y="9496425"/>
            <a:ext cx="3263454"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BACKGROUND · PIPELINE</a:t>
            </a:r>
            <a:endParaRPr lang="en-US" sz="1800" dirty="0"/>
          </a:p>
        </p:txBody>
      </p:sp>
      <p:sp>
        <p:nvSpPr>
          <p:cNvPr id="17" name="Text 15"/>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05 / 14</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52500" y="457200"/>
            <a:ext cx="2918238"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RESEARCH QUESTION</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06 / 14</a:t>
            </a:r>
            <a:endParaRPr lang="en-US" sz="1800" dirty="0"/>
          </a:p>
        </p:txBody>
      </p:sp>
      <p:sp>
        <p:nvSpPr>
          <p:cNvPr id="4" name="Shape 2"/>
          <p:cNvSpPr/>
          <p:nvPr/>
        </p:nvSpPr>
        <p:spPr>
          <a:xfrm>
            <a:off x="952500" y="3123307"/>
            <a:ext cx="2430066" cy="504825"/>
          </a:xfrm>
          <a:prstGeom prst="roundRect">
            <a:avLst>
              <a:gd name="adj" fmla="val 50000"/>
            </a:avLst>
          </a:prstGeom>
          <a:ln w="9525">
            <a:solidFill>
              <a:srgbClr val="F4F1EA"/>
            </a:solidFill>
            <a:prstDash val="solid"/>
          </a:ln>
        </p:spPr>
      </p:sp>
      <p:sp>
        <p:nvSpPr>
          <p:cNvPr id="5" name="Text 3"/>
          <p:cNvSpPr/>
          <p:nvPr/>
        </p:nvSpPr>
        <p:spPr>
          <a:xfrm>
            <a:off x="1152525" y="3228082"/>
            <a:ext cx="2106216"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1EA"/>
                </a:solidFill>
                <a:latin typeface="JetBrains Mono" pitchFamily="34" charset="0"/>
                <a:ea typeface="JetBrains Mono" pitchFamily="34" charset="-122"/>
                <a:cs typeface="JetBrains Mono" pitchFamily="34" charset="-120"/>
              </a:rPr>
              <a:t>THE QUESTION</a:t>
            </a:r>
            <a:endParaRPr lang="en-US" sz="1800" dirty="0"/>
          </a:p>
        </p:txBody>
      </p:sp>
      <p:sp>
        <p:nvSpPr>
          <p:cNvPr id="6" name="Text 4"/>
          <p:cNvSpPr/>
          <p:nvPr/>
        </p:nvSpPr>
        <p:spPr>
          <a:xfrm>
            <a:off x="952500" y="4009132"/>
            <a:ext cx="15697200" cy="3192661"/>
          </a:xfrm>
          <a:prstGeom prst="rect">
            <a:avLst/>
          </a:prstGeom>
          <a:noFill/>
          <a:ln/>
        </p:spPr>
        <p:txBody>
          <a:bodyPr wrap="square" lIns="25400" tIns="25400" rIns="25400" bIns="25400" rtlCol="0" anchor="t">
            <a:normAutofit/>
          </a:bodyPr>
          <a:lstStyle/>
          <a:p>
            <a:pPr algn="l" indent="0" marL="0">
              <a:lnSpc>
                <a:spcPct val="115000"/>
              </a:lnSpc>
              <a:buNone/>
            </a:pPr>
            <a:r>
              <a:rPr lang="en-US" sz="5400" spc="-81" kern="0" dirty="0">
                <a:solidFill>
                  <a:srgbClr val="F4F1EA"/>
                </a:solidFill>
                <a:latin typeface="Fraunces" pitchFamily="34" charset="0"/>
                <a:ea typeface="Fraunces" pitchFamily="34" charset="-122"/>
                <a:cs typeface="Fraunces" pitchFamily="34" charset="-120"/>
              </a:rPr>
              <a:t>Does cleaning a noisy voice sample before feature extraction improve speaker verification — and does it improve every error rate, or trade one for another?</a:t>
            </a:r>
            <a:endParaRPr lang="en-US" sz="5400" dirty="0"/>
          </a:p>
        </p:txBody>
      </p:sp>
      <p:sp>
        <p:nvSpPr>
          <p:cNvPr id="7" name="Text 5"/>
          <p:cNvSpPr/>
          <p:nvPr/>
        </p:nvSpPr>
        <p:spPr>
          <a:xfrm>
            <a:off x="952500" y="9496425"/>
            <a:ext cx="264185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F4F1EA">
                    <a:alpha val="65000"/>
                  </a:srgbClr>
                </a:solidFill>
                <a:latin typeface="JetBrains Mono" pitchFamily="34" charset="0"/>
                <a:ea typeface="JetBrains Mono" pitchFamily="34" charset="-122"/>
                <a:cs typeface="JetBrains Mono" pitchFamily="34" charset="-120"/>
              </a:rPr>
              <a:t>RESEARCH QUESTION</a:t>
            </a:r>
            <a:endParaRPr lang="en-US" sz="1800" dirty="0"/>
          </a:p>
        </p:txBody>
      </p:sp>
      <p:sp>
        <p:nvSpPr>
          <p:cNvPr id="8" name="Text 6"/>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F4F1EA">
                    <a:alpha val="65000"/>
                  </a:srgbClr>
                </a:solidFill>
                <a:latin typeface="JetBrains Mono" pitchFamily="34" charset="0"/>
                <a:ea typeface="JetBrains Mono" pitchFamily="34" charset="-122"/>
                <a:cs typeface="JetBrains Mono" pitchFamily="34" charset="-120"/>
              </a:rPr>
              <a:t>06 / 14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3549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METHODS</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07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METHODS</a:t>
            </a:r>
            <a:endParaRPr lang="en-US" sz="1800" dirty="0"/>
          </a:p>
        </p:txBody>
      </p:sp>
      <p:sp>
        <p:nvSpPr>
          <p:cNvPr id="5" name="Text 3"/>
          <p:cNvSpPr/>
          <p:nvPr/>
        </p:nvSpPr>
        <p:spPr>
          <a:xfrm>
            <a:off x="952500" y="1685925"/>
            <a:ext cx="16678275" cy="137904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Same pipeline, two input tracks. Data collected ourselves on campus.</a:t>
            </a:r>
            <a:endParaRPr lang="en-US" sz="4800" dirty="0"/>
          </a:p>
        </p:txBody>
      </p:sp>
      <p:sp>
        <p:nvSpPr>
          <p:cNvPr id="6" name="Text 4"/>
          <p:cNvSpPr/>
          <p:nvPr/>
        </p:nvSpPr>
        <p:spPr>
          <a:xfrm>
            <a:off x="952500" y="3593604"/>
            <a:ext cx="2076450" cy="6286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TRACK A · RAW</a:t>
            </a:r>
            <a:endParaRPr lang="en-US" sz="1800" dirty="0"/>
          </a:p>
        </p:txBody>
      </p:sp>
      <p:sp>
        <p:nvSpPr>
          <p:cNvPr id="7" name="Shape 5"/>
          <p:cNvSpPr/>
          <p:nvPr/>
        </p:nvSpPr>
        <p:spPr>
          <a:xfrm>
            <a:off x="3086100" y="3560266"/>
            <a:ext cx="3467100" cy="657225"/>
          </a:xfrm>
          <a:prstGeom prst="rect">
            <a:avLst/>
          </a:prstGeom>
          <a:ln w="9525">
            <a:solidFill>
              <a:srgbClr val="1A1A1F"/>
            </a:solidFill>
            <a:prstDash val="solid"/>
          </a:ln>
        </p:spPr>
      </p:sp>
      <p:sp>
        <p:nvSpPr>
          <p:cNvPr id="8" name="Text 6"/>
          <p:cNvSpPr/>
          <p:nvPr/>
        </p:nvSpPr>
        <p:spPr>
          <a:xfrm>
            <a:off x="3220498" y="3741241"/>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1A1A1F"/>
                </a:solidFill>
                <a:latin typeface="Inter Tight" pitchFamily="34" charset="0"/>
                <a:ea typeface="Inter Tight" pitchFamily="34" charset="-122"/>
                <a:cs typeface="Inter Tight" pitchFamily="34" charset="-120"/>
              </a:rPr>
              <a:t>Noisy audio</a:t>
            </a:r>
            <a:endParaRPr lang="en-US" sz="1950" dirty="0"/>
          </a:p>
        </p:txBody>
      </p:sp>
      <p:sp>
        <p:nvSpPr>
          <p:cNvPr id="9" name="Text 7"/>
          <p:cNvSpPr/>
          <p:nvPr/>
        </p:nvSpPr>
        <p:spPr>
          <a:xfrm>
            <a:off x="6648450" y="3722191"/>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10" name="Shape 8"/>
          <p:cNvSpPr/>
          <p:nvPr/>
        </p:nvSpPr>
        <p:spPr>
          <a:xfrm>
            <a:off x="7200900" y="3560266"/>
            <a:ext cx="3467100" cy="657225"/>
          </a:xfrm>
          <a:prstGeom prst="rect">
            <a:avLst/>
          </a:prstGeom>
          <a:solidFill>
            <a:srgbClr val="ECE7DC"/>
          </a:solidFill>
          <a:ln w="9525">
            <a:solidFill>
              <a:srgbClr val="1A1A1F"/>
            </a:solidFill>
            <a:prstDash val="solid"/>
          </a:ln>
        </p:spPr>
      </p:sp>
      <p:sp>
        <p:nvSpPr>
          <p:cNvPr id="11" name="Text 9"/>
          <p:cNvSpPr/>
          <p:nvPr/>
        </p:nvSpPr>
        <p:spPr>
          <a:xfrm>
            <a:off x="7335298" y="3741241"/>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1A1A1F"/>
                </a:solidFill>
                <a:latin typeface="Inter Tight" pitchFamily="34" charset="0"/>
                <a:ea typeface="Inter Tight" pitchFamily="34" charset="-122"/>
                <a:cs typeface="Inter Tight" pitchFamily="34" charset="-120"/>
              </a:rPr>
              <a:t>MFCC template</a:t>
            </a:r>
            <a:endParaRPr lang="en-US" sz="1950" dirty="0"/>
          </a:p>
        </p:txBody>
      </p:sp>
      <p:sp>
        <p:nvSpPr>
          <p:cNvPr id="12" name="Text 10"/>
          <p:cNvSpPr/>
          <p:nvPr/>
        </p:nvSpPr>
        <p:spPr>
          <a:xfrm>
            <a:off x="10763250" y="3722191"/>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13" name="Shape 11"/>
          <p:cNvSpPr/>
          <p:nvPr/>
        </p:nvSpPr>
        <p:spPr>
          <a:xfrm>
            <a:off x="11315700" y="3560266"/>
            <a:ext cx="3467100" cy="657225"/>
          </a:xfrm>
          <a:prstGeom prst="rect">
            <a:avLst/>
          </a:prstGeom>
          <a:ln w="9525">
            <a:solidFill>
              <a:srgbClr val="1A1A1F"/>
            </a:solidFill>
            <a:prstDash val="solid"/>
          </a:ln>
        </p:spPr>
      </p:sp>
      <p:sp>
        <p:nvSpPr>
          <p:cNvPr id="14" name="Text 12"/>
          <p:cNvSpPr/>
          <p:nvPr/>
        </p:nvSpPr>
        <p:spPr>
          <a:xfrm>
            <a:off x="11450098" y="3741241"/>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1A1A1F"/>
                </a:solidFill>
                <a:latin typeface="Inter Tight" pitchFamily="34" charset="0"/>
                <a:ea typeface="Inter Tight" pitchFamily="34" charset="-122"/>
                <a:cs typeface="Inter Tight" pitchFamily="34" charset="-120"/>
              </a:rPr>
              <a:t>Distance to centroid</a:t>
            </a:r>
            <a:endParaRPr lang="en-US" sz="1950" dirty="0"/>
          </a:p>
        </p:txBody>
      </p:sp>
      <p:sp>
        <p:nvSpPr>
          <p:cNvPr id="15" name="Text 13"/>
          <p:cNvSpPr/>
          <p:nvPr/>
        </p:nvSpPr>
        <p:spPr>
          <a:xfrm>
            <a:off x="14878050" y="3722191"/>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16" name="Text 14"/>
          <p:cNvSpPr/>
          <p:nvPr/>
        </p:nvSpPr>
        <p:spPr>
          <a:xfrm>
            <a:off x="15430500" y="3741241"/>
            <a:ext cx="198120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A1F"/>
                </a:solidFill>
                <a:latin typeface="Inter Tight" pitchFamily="34" charset="0"/>
                <a:ea typeface="Inter Tight" pitchFamily="34" charset="-122"/>
                <a:cs typeface="Inter Tight" pitchFamily="34" charset="-120"/>
              </a:rPr>
              <a:t>Raw scores</a:t>
            </a:r>
            <a:endParaRPr lang="en-US" sz="1950" dirty="0"/>
          </a:p>
        </p:txBody>
      </p:sp>
      <p:sp>
        <p:nvSpPr>
          <p:cNvPr id="17" name="Text 15"/>
          <p:cNvSpPr/>
          <p:nvPr/>
        </p:nvSpPr>
        <p:spPr>
          <a:xfrm>
            <a:off x="952500" y="4631829"/>
            <a:ext cx="2076450" cy="62865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000000"/>
                </a:solidFill>
                <a:latin typeface="JetBrains Mono" pitchFamily="34" charset="0"/>
                <a:ea typeface="JetBrains Mono" pitchFamily="34" charset="-122"/>
                <a:cs typeface="JetBrains Mono" pitchFamily="34" charset="-120"/>
              </a:rPr>
              <a:t>TRACK B · DENOISED</a:t>
            </a:r>
            <a:endParaRPr lang="en-US" sz="1800" dirty="0"/>
          </a:p>
        </p:txBody>
      </p:sp>
      <p:sp>
        <p:nvSpPr>
          <p:cNvPr id="18" name="Shape 16"/>
          <p:cNvSpPr/>
          <p:nvPr/>
        </p:nvSpPr>
        <p:spPr>
          <a:xfrm>
            <a:off x="3086100" y="4598491"/>
            <a:ext cx="3467100" cy="657225"/>
          </a:xfrm>
          <a:prstGeom prst="rect">
            <a:avLst/>
          </a:prstGeom>
          <a:ln w="9525">
            <a:solidFill>
              <a:srgbClr val="1A1A1F"/>
            </a:solidFill>
            <a:prstDash val="solid"/>
          </a:ln>
        </p:spPr>
      </p:sp>
      <p:sp>
        <p:nvSpPr>
          <p:cNvPr id="19" name="Text 17"/>
          <p:cNvSpPr/>
          <p:nvPr/>
        </p:nvSpPr>
        <p:spPr>
          <a:xfrm>
            <a:off x="3220498" y="4779466"/>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1A1A1F"/>
                </a:solidFill>
                <a:latin typeface="Inter Tight" pitchFamily="34" charset="0"/>
                <a:ea typeface="Inter Tight" pitchFamily="34" charset="-122"/>
                <a:cs typeface="Inter Tight" pitchFamily="34" charset="-120"/>
              </a:rPr>
              <a:t>Noisy audio</a:t>
            </a:r>
            <a:endParaRPr lang="en-US" sz="1950" dirty="0"/>
          </a:p>
        </p:txBody>
      </p:sp>
      <p:sp>
        <p:nvSpPr>
          <p:cNvPr id="20" name="Text 18"/>
          <p:cNvSpPr/>
          <p:nvPr/>
        </p:nvSpPr>
        <p:spPr>
          <a:xfrm>
            <a:off x="6648450" y="4760416"/>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21" name="Text 19"/>
          <p:cNvSpPr/>
          <p:nvPr/>
        </p:nvSpPr>
        <p:spPr>
          <a:xfrm>
            <a:off x="7335298" y="4779466"/>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F4F1EA"/>
                </a:solidFill>
                <a:latin typeface="Inter Tight" pitchFamily="34" charset="0"/>
                <a:ea typeface="Inter Tight" pitchFamily="34" charset="-122"/>
                <a:cs typeface="Inter Tight" pitchFamily="34" charset="-120"/>
              </a:rPr>
              <a:t>Denoiser</a:t>
            </a:r>
            <a:endParaRPr lang="en-US" sz="1950" dirty="0"/>
          </a:p>
        </p:txBody>
      </p:sp>
      <p:sp>
        <p:nvSpPr>
          <p:cNvPr id="22" name="Text 20"/>
          <p:cNvSpPr/>
          <p:nvPr/>
        </p:nvSpPr>
        <p:spPr>
          <a:xfrm>
            <a:off x="10763250" y="4760416"/>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23" name="Shape 21"/>
          <p:cNvSpPr/>
          <p:nvPr/>
        </p:nvSpPr>
        <p:spPr>
          <a:xfrm>
            <a:off x="11315700" y="4598491"/>
            <a:ext cx="3467100" cy="657225"/>
          </a:xfrm>
          <a:prstGeom prst="rect">
            <a:avLst/>
          </a:prstGeom>
          <a:solidFill>
            <a:srgbClr val="ECE7DC"/>
          </a:solidFill>
          <a:ln w="9525">
            <a:solidFill>
              <a:srgbClr val="1A1A1F"/>
            </a:solidFill>
            <a:prstDash val="solid"/>
          </a:ln>
        </p:spPr>
      </p:sp>
      <p:sp>
        <p:nvSpPr>
          <p:cNvPr id="24" name="Text 22"/>
          <p:cNvSpPr/>
          <p:nvPr/>
        </p:nvSpPr>
        <p:spPr>
          <a:xfrm>
            <a:off x="11450098" y="4779466"/>
            <a:ext cx="3198305" cy="333375"/>
          </a:xfrm>
          <a:prstGeom prst="rect">
            <a:avLst/>
          </a:prstGeom>
          <a:noFill/>
          <a:ln/>
        </p:spPr>
        <p:txBody>
          <a:bodyPr wrap="square" lIns="25400" tIns="25400" rIns="25400" bIns="25400" rtlCol="0" anchor="t">
            <a:normAutofit/>
          </a:bodyPr>
          <a:lstStyle/>
          <a:p>
            <a:pPr algn="ctr" indent="0" marL="0">
              <a:buNone/>
            </a:pPr>
            <a:r>
              <a:rPr lang="en-US" sz="1950" dirty="0">
                <a:solidFill>
                  <a:srgbClr val="1A1A1F"/>
                </a:solidFill>
                <a:latin typeface="Inter Tight" pitchFamily="34" charset="0"/>
                <a:ea typeface="Inter Tight" pitchFamily="34" charset="-122"/>
                <a:cs typeface="Inter Tight" pitchFamily="34" charset="-120"/>
              </a:rPr>
              <a:t>MFCC template</a:t>
            </a:r>
            <a:endParaRPr lang="en-US" sz="1950" dirty="0"/>
          </a:p>
        </p:txBody>
      </p:sp>
      <p:sp>
        <p:nvSpPr>
          <p:cNvPr id="25" name="Text 23"/>
          <p:cNvSpPr/>
          <p:nvPr/>
        </p:nvSpPr>
        <p:spPr>
          <a:xfrm>
            <a:off x="14878050" y="4760416"/>
            <a:ext cx="457200" cy="371475"/>
          </a:xfrm>
          <a:prstGeom prst="rect">
            <a:avLst/>
          </a:prstGeom>
          <a:noFill/>
          <a:ln/>
        </p:spPr>
        <p:txBody>
          <a:bodyPr wrap="square" lIns="25400" tIns="25400" rIns="25400" bIns="25400" rtlCol="0" anchor="t">
            <a:normAutofit/>
          </a:bodyPr>
          <a:lstStyle/>
          <a:p>
            <a:pPr algn="ctr" indent="0" marL="0">
              <a:buNone/>
            </a:pPr>
            <a:r>
              <a:rPr lang="en-US" sz="1950" dirty="0">
                <a:solidFill>
                  <a:srgbClr val="6B6B75"/>
                </a:solidFill>
                <a:latin typeface="JetBrains Mono" pitchFamily="34" charset="0"/>
                <a:ea typeface="JetBrains Mono" pitchFamily="34" charset="-122"/>
                <a:cs typeface="JetBrains Mono" pitchFamily="34" charset="-120"/>
              </a:rPr>
              <a:t>→</a:t>
            </a:r>
            <a:endParaRPr lang="en-US" sz="1950" dirty="0"/>
          </a:p>
        </p:txBody>
      </p:sp>
      <p:sp>
        <p:nvSpPr>
          <p:cNvPr id="26" name="Text 24"/>
          <p:cNvSpPr/>
          <p:nvPr/>
        </p:nvSpPr>
        <p:spPr>
          <a:xfrm>
            <a:off x="15430500" y="4779466"/>
            <a:ext cx="1981200"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A1A1F"/>
                </a:solidFill>
                <a:latin typeface="Inter Tight" pitchFamily="34" charset="0"/>
                <a:ea typeface="Inter Tight" pitchFamily="34" charset="-122"/>
                <a:cs typeface="Inter Tight" pitchFamily="34" charset="-120"/>
              </a:rPr>
              <a:t>Denoised scores</a:t>
            </a:r>
            <a:endParaRPr lang="en-US" sz="1950" dirty="0"/>
          </a:p>
        </p:txBody>
      </p:sp>
      <p:sp>
        <p:nvSpPr>
          <p:cNvPr id="27" name="Shape 25"/>
          <p:cNvSpPr/>
          <p:nvPr/>
        </p:nvSpPr>
        <p:spPr>
          <a:xfrm>
            <a:off x="952500" y="5865316"/>
            <a:ext cx="16383000" cy="9525"/>
          </a:xfrm>
          <a:prstGeom prst="rect">
            <a:avLst/>
          </a:prstGeom>
          <a:solidFill>
            <a:srgbClr val="C9C2B2"/>
          </a:solidFill>
          <a:ln/>
        </p:spPr>
      </p:sp>
      <p:sp>
        <p:nvSpPr>
          <p:cNvPr id="28" name="Shape 26"/>
          <p:cNvSpPr/>
          <p:nvPr/>
        </p:nvSpPr>
        <p:spPr>
          <a:xfrm>
            <a:off x="952500" y="6179641"/>
            <a:ext cx="3810000" cy="19050"/>
          </a:xfrm>
          <a:prstGeom prst="rect">
            <a:avLst/>
          </a:prstGeom>
          <a:solidFill>
            <a:srgbClr val="1A1A1F"/>
          </a:solidFill>
          <a:ln/>
        </p:spPr>
      </p:sp>
      <p:sp>
        <p:nvSpPr>
          <p:cNvPr id="29" name="Text 27"/>
          <p:cNvSpPr/>
          <p:nvPr/>
        </p:nvSpPr>
        <p:spPr>
          <a:xfrm>
            <a:off x="952500" y="6370141"/>
            <a:ext cx="3924300"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SAMPLES</a:t>
            </a:r>
            <a:endParaRPr lang="en-US" sz="1800" dirty="0"/>
          </a:p>
        </p:txBody>
      </p:sp>
      <p:sp>
        <p:nvSpPr>
          <p:cNvPr id="30" name="Text 28"/>
          <p:cNvSpPr/>
          <p:nvPr/>
        </p:nvSpPr>
        <p:spPr>
          <a:xfrm>
            <a:off x="952500" y="6760666"/>
            <a:ext cx="39243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1A1A1F"/>
                </a:solidFill>
                <a:latin typeface="Fraunces" pitchFamily="34" charset="0"/>
                <a:ea typeface="Fraunces" pitchFamily="34" charset="-122"/>
                <a:cs typeface="Fraunces" pitchFamily="34" charset="-120"/>
              </a:rPr>
              <a:t>80</a:t>
            </a:r>
            <a:endParaRPr lang="en-US" sz="7200" dirty="0"/>
          </a:p>
        </p:txBody>
      </p:sp>
      <p:sp>
        <p:nvSpPr>
          <p:cNvPr id="31" name="Text 29"/>
          <p:cNvSpPr/>
          <p:nvPr/>
        </p:nvSpPr>
        <p:spPr>
          <a:xfrm>
            <a:off x="952500" y="7770316"/>
            <a:ext cx="392430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6B6B75"/>
                </a:solidFill>
                <a:latin typeface="Inter Tight" pitchFamily="34" charset="0"/>
                <a:ea typeface="Inter Tight" pitchFamily="34" charset="-122"/>
                <a:cs typeface="Inter Tight" pitchFamily="34" charset="-120"/>
              </a:rPr>
              <a:t>Total, self-recorded.</a:t>
            </a:r>
            <a:endParaRPr lang="en-US" sz="1950" dirty="0"/>
          </a:p>
        </p:txBody>
      </p:sp>
      <p:sp>
        <p:nvSpPr>
          <p:cNvPr id="32" name="Shape 30"/>
          <p:cNvSpPr/>
          <p:nvPr/>
        </p:nvSpPr>
        <p:spPr>
          <a:xfrm>
            <a:off x="5143500" y="6179641"/>
            <a:ext cx="3810000" cy="19050"/>
          </a:xfrm>
          <a:prstGeom prst="rect">
            <a:avLst/>
          </a:prstGeom>
          <a:solidFill>
            <a:srgbClr val="1A1A1F"/>
          </a:solidFill>
          <a:ln/>
        </p:spPr>
      </p:sp>
      <p:sp>
        <p:nvSpPr>
          <p:cNvPr id="33" name="Text 31"/>
          <p:cNvSpPr/>
          <p:nvPr/>
        </p:nvSpPr>
        <p:spPr>
          <a:xfrm>
            <a:off x="5143500" y="6370141"/>
            <a:ext cx="3924300"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SPEAKERS</a:t>
            </a:r>
            <a:endParaRPr lang="en-US" sz="1800" dirty="0"/>
          </a:p>
        </p:txBody>
      </p:sp>
      <p:sp>
        <p:nvSpPr>
          <p:cNvPr id="34" name="Text 32"/>
          <p:cNvSpPr/>
          <p:nvPr/>
        </p:nvSpPr>
        <p:spPr>
          <a:xfrm>
            <a:off x="5143500" y="6760666"/>
            <a:ext cx="39243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1A1A1F"/>
                </a:solidFill>
                <a:latin typeface="Fraunces" pitchFamily="34" charset="0"/>
                <a:ea typeface="Fraunces" pitchFamily="34" charset="-122"/>
                <a:cs typeface="Fraunces" pitchFamily="34" charset="-120"/>
              </a:rPr>
              <a:t>2</a:t>
            </a:r>
            <a:endParaRPr lang="en-US" sz="7200" dirty="0"/>
          </a:p>
        </p:txBody>
      </p:sp>
      <p:sp>
        <p:nvSpPr>
          <p:cNvPr id="35" name="Text 33"/>
          <p:cNvSpPr/>
          <p:nvPr/>
        </p:nvSpPr>
        <p:spPr>
          <a:xfrm>
            <a:off x="5143500" y="7770316"/>
            <a:ext cx="392430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6B6B75"/>
                </a:solidFill>
                <a:latin typeface="Inter Tight" pitchFamily="34" charset="0"/>
                <a:ea typeface="Inter Tight" pitchFamily="34" charset="-122"/>
                <a:cs typeface="Inter Tight" pitchFamily="34" charset="-120"/>
              </a:rPr>
              <a:t>Enrolled separately.</a:t>
            </a:r>
            <a:endParaRPr lang="en-US" sz="1950" dirty="0"/>
          </a:p>
        </p:txBody>
      </p:sp>
      <p:sp>
        <p:nvSpPr>
          <p:cNvPr id="36" name="Shape 34"/>
          <p:cNvSpPr/>
          <p:nvPr/>
        </p:nvSpPr>
        <p:spPr>
          <a:xfrm>
            <a:off x="9334500" y="6179641"/>
            <a:ext cx="3810000" cy="19050"/>
          </a:xfrm>
          <a:prstGeom prst="rect">
            <a:avLst/>
          </a:prstGeom>
          <a:solidFill>
            <a:srgbClr val="1A1A1F"/>
          </a:solidFill>
          <a:ln/>
        </p:spPr>
      </p:sp>
      <p:sp>
        <p:nvSpPr>
          <p:cNvPr id="37" name="Text 35"/>
          <p:cNvSpPr/>
          <p:nvPr/>
        </p:nvSpPr>
        <p:spPr>
          <a:xfrm>
            <a:off x="9334500" y="6370141"/>
            <a:ext cx="3924300"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ENROLLMENT</a:t>
            </a:r>
            <a:endParaRPr lang="en-US" sz="1800" dirty="0"/>
          </a:p>
        </p:txBody>
      </p:sp>
      <p:sp>
        <p:nvSpPr>
          <p:cNvPr id="38" name="Text 36"/>
          <p:cNvSpPr/>
          <p:nvPr/>
        </p:nvSpPr>
        <p:spPr>
          <a:xfrm>
            <a:off x="9334500" y="6760666"/>
            <a:ext cx="39243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1A1A1F"/>
                </a:solidFill>
                <a:latin typeface="Fraunces" pitchFamily="34" charset="0"/>
                <a:ea typeface="Fraunces" pitchFamily="34" charset="-122"/>
                <a:cs typeface="Fraunces" pitchFamily="34" charset="-120"/>
              </a:rPr>
              <a:t>5</a:t>
            </a:r>
            <a:endParaRPr lang="en-US" sz="7200" dirty="0"/>
          </a:p>
        </p:txBody>
      </p:sp>
      <p:sp>
        <p:nvSpPr>
          <p:cNvPr id="39" name="Text 37"/>
          <p:cNvSpPr/>
          <p:nvPr/>
        </p:nvSpPr>
        <p:spPr>
          <a:xfrm>
            <a:off x="9334500" y="7770316"/>
            <a:ext cx="392430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6B6B75"/>
                </a:solidFill>
                <a:latin typeface="Inter Tight" pitchFamily="34" charset="0"/>
                <a:ea typeface="Inter Tight" pitchFamily="34" charset="-122"/>
                <a:cs typeface="Inter Tight" pitchFamily="34" charset="-120"/>
              </a:rPr>
              <a:t>Clips per speaker.</a:t>
            </a:r>
            <a:endParaRPr lang="en-US" sz="1950" dirty="0"/>
          </a:p>
        </p:txBody>
      </p:sp>
      <p:sp>
        <p:nvSpPr>
          <p:cNvPr id="40" name="Shape 38"/>
          <p:cNvSpPr/>
          <p:nvPr/>
        </p:nvSpPr>
        <p:spPr>
          <a:xfrm>
            <a:off x="13525500" y="6179641"/>
            <a:ext cx="3810000" cy="19050"/>
          </a:xfrm>
          <a:prstGeom prst="rect">
            <a:avLst/>
          </a:prstGeom>
          <a:solidFill>
            <a:srgbClr val="1A1A1F"/>
          </a:solidFill>
          <a:ln/>
        </p:spPr>
      </p:sp>
      <p:sp>
        <p:nvSpPr>
          <p:cNvPr id="41" name="Text 39"/>
          <p:cNvSpPr/>
          <p:nvPr/>
        </p:nvSpPr>
        <p:spPr>
          <a:xfrm>
            <a:off x="13525500" y="6370141"/>
            <a:ext cx="3924300"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NOISE SITES</a:t>
            </a:r>
            <a:endParaRPr lang="en-US" sz="1800" dirty="0"/>
          </a:p>
        </p:txBody>
      </p:sp>
      <p:sp>
        <p:nvSpPr>
          <p:cNvPr id="42" name="Text 40"/>
          <p:cNvSpPr/>
          <p:nvPr/>
        </p:nvSpPr>
        <p:spPr>
          <a:xfrm>
            <a:off x="13525500" y="6760666"/>
            <a:ext cx="39243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1A1A1F"/>
                </a:solidFill>
                <a:latin typeface="Fraunces" pitchFamily="34" charset="0"/>
                <a:ea typeface="Fraunces" pitchFamily="34" charset="-122"/>
                <a:cs typeface="Fraunces" pitchFamily="34" charset="-120"/>
              </a:rPr>
              <a:t>7</a:t>
            </a:r>
            <a:endParaRPr lang="en-US" sz="7200" dirty="0"/>
          </a:p>
        </p:txBody>
      </p:sp>
      <p:sp>
        <p:nvSpPr>
          <p:cNvPr id="43" name="Text 41"/>
          <p:cNvSpPr/>
          <p:nvPr/>
        </p:nvSpPr>
        <p:spPr>
          <a:xfrm>
            <a:off x="13525500" y="7770316"/>
            <a:ext cx="392430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6B6B75"/>
                </a:solidFill>
                <a:latin typeface="Inter Tight" pitchFamily="34" charset="0"/>
                <a:ea typeface="Inter Tight" pitchFamily="34" charset="-122"/>
                <a:cs typeface="Inter Tight" pitchFamily="34" charset="-120"/>
              </a:rPr>
              <a:t>5 clips per speaker, each.</a:t>
            </a:r>
            <a:endParaRPr lang="en-US" sz="1950" dirty="0"/>
          </a:p>
        </p:txBody>
      </p:sp>
      <p:sp>
        <p:nvSpPr>
          <p:cNvPr id="44" name="Text 42"/>
          <p:cNvSpPr/>
          <p:nvPr/>
        </p:nvSpPr>
        <p:spPr>
          <a:xfrm>
            <a:off x="952500" y="8333184"/>
            <a:ext cx="16874490"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6B6B75"/>
                </a:solidFill>
                <a:latin typeface="Inter Tight" pitchFamily="34" charset="0"/>
                <a:ea typeface="Inter Tight" pitchFamily="34" charset="-122"/>
                <a:cs typeface="Inter Tight" pitchFamily="34" charset="-120"/>
              </a:rPr>
              <a:t>Denoiser: pretrained speech enhancement model by Rashadul Hasan Badhon. Threshold held at Euclidean distance = 75 across both tracks.</a:t>
            </a:r>
            <a:endParaRPr lang="en-US" sz="2100" dirty="0"/>
          </a:p>
        </p:txBody>
      </p:sp>
      <p:sp>
        <p:nvSpPr>
          <p:cNvPr id="45" name="Text 43"/>
          <p:cNvSpPr/>
          <p:nvPr/>
        </p:nvSpPr>
        <p:spPr>
          <a:xfrm>
            <a:off x="952500"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METHODS</a:t>
            </a:r>
            <a:endParaRPr lang="en-US" sz="1800" dirty="0"/>
          </a:p>
        </p:txBody>
      </p:sp>
      <p:sp>
        <p:nvSpPr>
          <p:cNvPr id="46" name="Text 44"/>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07 / 14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3549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METHODS</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08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METHODS · EVALUATION</a:t>
            </a:r>
            <a:endParaRPr lang="en-US" sz="1800" dirty="0"/>
          </a:p>
        </p:txBody>
      </p:sp>
      <p:sp>
        <p:nvSpPr>
          <p:cNvPr id="5" name="Text 3"/>
          <p:cNvSpPr/>
          <p:nvPr/>
        </p:nvSpPr>
        <p:spPr>
          <a:xfrm>
            <a:off x="952500" y="1685925"/>
            <a:ext cx="15697200"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Three rates at a fixed decision threshold.</a:t>
            </a:r>
            <a:endParaRPr lang="en-US" sz="4800" dirty="0"/>
          </a:p>
        </p:txBody>
      </p:sp>
      <p:sp>
        <p:nvSpPr>
          <p:cNvPr id="6" name="Shape 4"/>
          <p:cNvSpPr/>
          <p:nvPr/>
        </p:nvSpPr>
        <p:spPr>
          <a:xfrm>
            <a:off x="952500" y="3118396"/>
            <a:ext cx="5079950" cy="19050"/>
          </a:xfrm>
          <a:prstGeom prst="rect">
            <a:avLst/>
          </a:prstGeom>
          <a:solidFill>
            <a:srgbClr val="1A1A1F"/>
          </a:solidFill>
          <a:ln/>
        </p:spPr>
      </p:sp>
      <p:sp>
        <p:nvSpPr>
          <p:cNvPr id="7" name="Text 5"/>
          <p:cNvSpPr/>
          <p:nvPr/>
        </p:nvSpPr>
        <p:spPr>
          <a:xfrm>
            <a:off x="952500" y="3308896"/>
            <a:ext cx="5232349"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FAR</a:t>
            </a:r>
            <a:endParaRPr lang="en-US" sz="1800" dirty="0"/>
          </a:p>
        </p:txBody>
      </p:sp>
      <p:sp>
        <p:nvSpPr>
          <p:cNvPr id="8" name="Text 6"/>
          <p:cNvSpPr/>
          <p:nvPr/>
        </p:nvSpPr>
        <p:spPr>
          <a:xfrm>
            <a:off x="952500" y="3699421"/>
            <a:ext cx="5232349"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dirty="0">
                <a:solidFill>
                  <a:srgbClr val="1A1A1F"/>
                </a:solidFill>
                <a:latin typeface="Fraunces" pitchFamily="34" charset="0"/>
                <a:ea typeface="Fraunces" pitchFamily="34" charset="-122"/>
                <a:cs typeface="Fraunces" pitchFamily="34" charset="-120"/>
              </a:rPr>
              <a:t>False Accept</a:t>
            </a:r>
            <a:endParaRPr lang="en-US" sz="5400" dirty="0"/>
          </a:p>
        </p:txBody>
      </p:sp>
      <p:sp>
        <p:nvSpPr>
          <p:cNvPr id="9" name="Text 7"/>
          <p:cNvSpPr/>
          <p:nvPr/>
        </p:nvSpPr>
        <p:spPr>
          <a:xfrm>
            <a:off x="952500" y="4480471"/>
            <a:ext cx="5232349"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3A44"/>
                </a:solidFill>
                <a:latin typeface="Inter Tight" pitchFamily="34" charset="0"/>
                <a:ea typeface="Inter Tight" pitchFamily="34" charset="-122"/>
                <a:cs typeface="Inter Tight" pitchFamily="34" charset="-120"/>
              </a:rPr>
              <a:t>Impostor passes the threshold. Lower is better.</a:t>
            </a:r>
            <a:endParaRPr lang="en-US" sz="2100" dirty="0"/>
          </a:p>
        </p:txBody>
      </p:sp>
      <p:sp>
        <p:nvSpPr>
          <p:cNvPr id="10" name="Shape 8"/>
          <p:cNvSpPr/>
          <p:nvPr/>
        </p:nvSpPr>
        <p:spPr>
          <a:xfrm>
            <a:off x="6603950" y="3118396"/>
            <a:ext cx="5079950" cy="19050"/>
          </a:xfrm>
          <a:prstGeom prst="rect">
            <a:avLst/>
          </a:prstGeom>
          <a:solidFill>
            <a:srgbClr val="1A1A1F"/>
          </a:solidFill>
          <a:ln/>
        </p:spPr>
      </p:sp>
      <p:sp>
        <p:nvSpPr>
          <p:cNvPr id="11" name="Text 9"/>
          <p:cNvSpPr/>
          <p:nvPr/>
        </p:nvSpPr>
        <p:spPr>
          <a:xfrm>
            <a:off x="6603950" y="3308896"/>
            <a:ext cx="5232349"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FRR</a:t>
            </a:r>
            <a:endParaRPr lang="en-US" sz="1800" dirty="0"/>
          </a:p>
        </p:txBody>
      </p:sp>
      <p:sp>
        <p:nvSpPr>
          <p:cNvPr id="12" name="Text 10"/>
          <p:cNvSpPr/>
          <p:nvPr/>
        </p:nvSpPr>
        <p:spPr>
          <a:xfrm>
            <a:off x="6603950" y="3699421"/>
            <a:ext cx="5232349"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dirty="0">
                <a:solidFill>
                  <a:srgbClr val="1A1A1F"/>
                </a:solidFill>
                <a:latin typeface="Fraunces" pitchFamily="34" charset="0"/>
                <a:ea typeface="Fraunces" pitchFamily="34" charset="-122"/>
                <a:cs typeface="Fraunces" pitchFamily="34" charset="-120"/>
              </a:rPr>
              <a:t>False Reject</a:t>
            </a:r>
            <a:endParaRPr lang="en-US" sz="5400" dirty="0"/>
          </a:p>
        </p:txBody>
      </p:sp>
      <p:sp>
        <p:nvSpPr>
          <p:cNvPr id="13" name="Text 11"/>
          <p:cNvSpPr/>
          <p:nvPr/>
        </p:nvSpPr>
        <p:spPr>
          <a:xfrm>
            <a:off x="6603950" y="4480471"/>
            <a:ext cx="5232349"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3A44"/>
                </a:solidFill>
                <a:latin typeface="Inter Tight" pitchFamily="34" charset="0"/>
                <a:ea typeface="Inter Tight" pitchFamily="34" charset="-122"/>
                <a:cs typeface="Inter Tight" pitchFamily="34" charset="-120"/>
              </a:rPr>
              <a:t>True speaker is refused. Lower is better.</a:t>
            </a:r>
            <a:endParaRPr lang="en-US" sz="2100" dirty="0"/>
          </a:p>
        </p:txBody>
      </p:sp>
      <p:sp>
        <p:nvSpPr>
          <p:cNvPr id="14" name="Shape 12"/>
          <p:cNvSpPr/>
          <p:nvPr/>
        </p:nvSpPr>
        <p:spPr>
          <a:xfrm>
            <a:off x="12255401" y="3118396"/>
            <a:ext cx="5079950" cy="19050"/>
          </a:xfrm>
          <a:prstGeom prst="rect">
            <a:avLst/>
          </a:prstGeom>
          <a:solidFill>
            <a:srgbClr val="1A1A1F"/>
          </a:solidFill>
          <a:ln/>
        </p:spPr>
      </p:sp>
      <p:sp>
        <p:nvSpPr>
          <p:cNvPr id="15" name="Text 13"/>
          <p:cNvSpPr/>
          <p:nvPr/>
        </p:nvSpPr>
        <p:spPr>
          <a:xfrm>
            <a:off x="12255401" y="3308896"/>
            <a:ext cx="5232349"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TAR</a:t>
            </a:r>
            <a:endParaRPr lang="en-US" sz="1800" dirty="0"/>
          </a:p>
        </p:txBody>
      </p:sp>
      <p:sp>
        <p:nvSpPr>
          <p:cNvPr id="16" name="Text 14"/>
          <p:cNvSpPr/>
          <p:nvPr/>
        </p:nvSpPr>
        <p:spPr>
          <a:xfrm>
            <a:off x="12255401" y="3699421"/>
            <a:ext cx="5232349"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dirty="0">
                <a:solidFill>
                  <a:srgbClr val="1A1A1F"/>
                </a:solidFill>
                <a:latin typeface="Fraunces" pitchFamily="34" charset="0"/>
                <a:ea typeface="Fraunces" pitchFamily="34" charset="-122"/>
                <a:cs typeface="Fraunces" pitchFamily="34" charset="-120"/>
              </a:rPr>
              <a:t>True Accept</a:t>
            </a:r>
            <a:endParaRPr lang="en-US" sz="5400" dirty="0"/>
          </a:p>
        </p:txBody>
      </p:sp>
      <p:sp>
        <p:nvSpPr>
          <p:cNvPr id="17" name="Text 15"/>
          <p:cNvSpPr/>
          <p:nvPr/>
        </p:nvSpPr>
        <p:spPr>
          <a:xfrm>
            <a:off x="12255401" y="4480471"/>
            <a:ext cx="5232349"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3A44"/>
                </a:solidFill>
                <a:latin typeface="Inter Tight" pitchFamily="34" charset="0"/>
                <a:ea typeface="Inter Tight" pitchFamily="34" charset="-122"/>
                <a:cs typeface="Inter Tight" pitchFamily="34" charset="-120"/>
              </a:rPr>
              <a:t>True speaker is accepted. Higher is better.</a:t>
            </a:r>
            <a:endParaRPr lang="en-US" sz="2100" dirty="0"/>
          </a:p>
        </p:txBody>
      </p:sp>
      <p:sp>
        <p:nvSpPr>
          <p:cNvPr id="18" name="Shape 16"/>
          <p:cNvSpPr/>
          <p:nvPr/>
        </p:nvSpPr>
        <p:spPr>
          <a:xfrm>
            <a:off x="952500" y="5863382"/>
            <a:ext cx="16383000" cy="619125"/>
          </a:xfrm>
          <a:prstGeom prst="rect">
            <a:avLst/>
          </a:prstGeom>
          <a:solidFill>
            <a:srgbClr val="ECE7DC"/>
          </a:solidFill>
          <a:ln/>
        </p:spPr>
      </p:sp>
      <p:sp>
        <p:nvSpPr>
          <p:cNvPr id="19" name="Text 17"/>
          <p:cNvSpPr/>
          <p:nvPr/>
        </p:nvSpPr>
        <p:spPr>
          <a:xfrm>
            <a:off x="1162050" y="5996732"/>
            <a:ext cx="1645539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A1A1F"/>
                </a:solidFill>
                <a:latin typeface="JetBrains Mono" pitchFamily="34" charset="0"/>
                <a:ea typeface="JetBrains Mono" pitchFamily="34" charset="-122"/>
                <a:cs typeface="JetBrains Mono" pitchFamily="34" charset="-120"/>
              </a:rPr>
              <a:t>Threshold: Euclidean distance &lt; 75.0</a:t>
            </a:r>
            <a:endParaRPr lang="en-US" sz="2100" dirty="0"/>
          </a:p>
        </p:txBody>
      </p:sp>
      <p:sp>
        <p:nvSpPr>
          <p:cNvPr id="20" name="Text 18"/>
          <p:cNvSpPr/>
          <p:nvPr/>
        </p:nvSpPr>
        <p:spPr>
          <a:xfrm>
            <a:off x="952500" y="9496425"/>
            <a:ext cx="264185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METHODS · METRICS</a:t>
            </a:r>
            <a:endParaRPr lang="en-US" sz="1800" dirty="0"/>
          </a:p>
        </p:txBody>
      </p:sp>
      <p:sp>
        <p:nvSpPr>
          <p:cNvPr id="21" name="Text 19"/>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08 / 14</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3549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RESULTS</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09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RESULTS · SIGNAL INSPECTION</a:t>
            </a:r>
            <a:endParaRPr lang="en-US" sz="1800" dirty="0"/>
          </a:p>
        </p:txBody>
      </p:sp>
      <p:sp>
        <p:nvSpPr>
          <p:cNvPr id="5" name="Text 3"/>
          <p:cNvSpPr/>
          <p:nvPr/>
        </p:nvSpPr>
        <p:spPr>
          <a:xfrm>
            <a:off x="952500" y="1685925"/>
            <a:ext cx="16678275"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Denoising visibly sharpens the harmonic structure.</a:t>
            </a:r>
            <a:endParaRPr lang="en-US" sz="4800" dirty="0"/>
          </a:p>
        </p:txBody>
      </p:sp>
      <p:sp>
        <p:nvSpPr>
          <p:cNvPr id="6" name="Shape 4"/>
          <p:cNvSpPr/>
          <p:nvPr/>
        </p:nvSpPr>
        <p:spPr>
          <a:xfrm>
            <a:off x="952500" y="2813596"/>
            <a:ext cx="8001000" cy="4082802"/>
          </a:xfrm>
          <a:prstGeom prst="rect">
            <a:avLst/>
          </a:prstGeom>
          <a:solidFill>
            <a:srgbClr val="FFFFFF"/>
          </a:solidFill>
          <a:ln w="9525">
            <a:solidFill>
              <a:srgbClr val="C9C2B2"/>
            </a:solidFill>
            <a:prstDash val="solid"/>
          </a:ln>
        </p:spPr>
      </p:sp>
      <p:sp>
        <p:nvSpPr>
          <p:cNvPr id="7" name="Text 5"/>
          <p:cNvSpPr/>
          <p:nvPr/>
        </p:nvSpPr>
        <p:spPr>
          <a:xfrm>
            <a:off x="1228725" y="3051721"/>
            <a:ext cx="767200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FIG 1 · RAW SPECTROGRAM</a:t>
            </a:r>
            <a:endParaRPr lang="en-US" sz="1800" dirty="0"/>
          </a:p>
        </p:txBody>
      </p:sp>
      <p:pic>
        <p:nvPicPr>
          <p:cNvPr id="8" name="Image 0" descr="preencoded.png">    </p:cNvPr>
          <p:cNvPicPr>
            <a:picLocks noChangeAspect="1"/>
          </p:cNvPicPr>
          <p:nvPr/>
        </p:nvPicPr>
        <p:blipFill>
          <a:blip r:embed="rId1"/>
          <a:stretch>
            <a:fillRect/>
          </a:stretch>
        </p:blipFill>
        <p:spPr>
          <a:xfrm>
            <a:off x="1228725" y="3480346"/>
            <a:ext cx="7448550" cy="2793206"/>
          </a:xfrm>
          <a:prstGeom prst="rect">
            <a:avLst/>
          </a:prstGeom>
        </p:spPr>
      </p:pic>
      <p:sp>
        <p:nvSpPr>
          <p:cNvPr id="9" name="Text 6"/>
          <p:cNvSpPr/>
          <p:nvPr/>
        </p:nvSpPr>
        <p:spPr>
          <a:xfrm>
            <a:off x="1228725" y="6406902"/>
            <a:ext cx="7672007"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B6B75"/>
                </a:solidFill>
                <a:latin typeface="Inter Tight" pitchFamily="34" charset="0"/>
                <a:ea typeface="Inter Tight" pitchFamily="34" charset="-122"/>
                <a:cs typeface="Inter Tight" pitchFamily="34" charset="-120"/>
              </a:rPr>
              <a:t>Broad background energy across frequencies.</a:t>
            </a:r>
            <a:endParaRPr lang="en-US" sz="1800" dirty="0"/>
          </a:p>
        </p:txBody>
      </p:sp>
      <p:sp>
        <p:nvSpPr>
          <p:cNvPr id="10" name="Shape 7"/>
          <p:cNvSpPr/>
          <p:nvPr/>
        </p:nvSpPr>
        <p:spPr>
          <a:xfrm>
            <a:off x="9334500" y="2813596"/>
            <a:ext cx="8001000" cy="4082802"/>
          </a:xfrm>
          <a:prstGeom prst="rect">
            <a:avLst/>
          </a:prstGeom>
          <a:solidFill>
            <a:srgbClr val="FFFFFF"/>
          </a:solidFill>
          <a:ln w="9525">
            <a:solidFill>
              <a:srgbClr val="C9C2B2"/>
            </a:solidFill>
            <a:prstDash val="solid"/>
          </a:ln>
        </p:spPr>
      </p:sp>
      <p:sp>
        <p:nvSpPr>
          <p:cNvPr id="11" name="Text 8"/>
          <p:cNvSpPr/>
          <p:nvPr/>
        </p:nvSpPr>
        <p:spPr>
          <a:xfrm>
            <a:off x="9610725" y="3051721"/>
            <a:ext cx="767200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FIG 2 · DENOISED SPECTROGRAM</a:t>
            </a:r>
            <a:endParaRPr lang="en-US" sz="1800" dirty="0"/>
          </a:p>
        </p:txBody>
      </p:sp>
      <p:pic>
        <p:nvPicPr>
          <p:cNvPr id="12" name="Image 1" descr="preencoded.png">    </p:cNvPr>
          <p:cNvPicPr>
            <a:picLocks noChangeAspect="1"/>
          </p:cNvPicPr>
          <p:nvPr/>
        </p:nvPicPr>
        <p:blipFill>
          <a:blip r:embed="rId2"/>
          <a:stretch>
            <a:fillRect/>
          </a:stretch>
        </p:blipFill>
        <p:spPr>
          <a:xfrm>
            <a:off x="9610725" y="3480346"/>
            <a:ext cx="7448550" cy="2793206"/>
          </a:xfrm>
          <a:prstGeom prst="rect">
            <a:avLst/>
          </a:prstGeom>
        </p:spPr>
      </p:pic>
      <p:sp>
        <p:nvSpPr>
          <p:cNvPr id="13" name="Text 9"/>
          <p:cNvSpPr/>
          <p:nvPr/>
        </p:nvSpPr>
        <p:spPr>
          <a:xfrm>
            <a:off x="9610725" y="6406902"/>
            <a:ext cx="7672007" cy="34662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B6B75"/>
                </a:solidFill>
                <a:latin typeface="Inter Tight" pitchFamily="34" charset="0"/>
                <a:ea typeface="Inter Tight" pitchFamily="34" charset="-122"/>
                <a:cs typeface="Inter Tight" pitchFamily="34" charset="-120"/>
              </a:rPr>
              <a:t>Harmonic bands sharpen; background attenuated.</a:t>
            </a:r>
            <a:endParaRPr lang="en-US" sz="1800" dirty="0"/>
          </a:p>
        </p:txBody>
      </p:sp>
      <p:sp>
        <p:nvSpPr>
          <p:cNvPr id="14" name="Text 10"/>
          <p:cNvSpPr/>
          <p:nvPr/>
        </p:nvSpPr>
        <p:spPr>
          <a:xfrm>
            <a:off x="952500" y="9496425"/>
            <a:ext cx="341889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RESULTS · SPECTROGRAMS</a:t>
            </a:r>
            <a:endParaRPr lang="en-US" sz="1800" dirty="0"/>
          </a:p>
        </p:txBody>
      </p:sp>
      <p:sp>
        <p:nvSpPr>
          <p:cNvPr id="15" name="Text 11"/>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09 / 14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3549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RESULTS</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10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RESULTS · SCORE DISTRIBUTIONS</a:t>
            </a:r>
            <a:endParaRPr lang="en-US" sz="1800" dirty="0"/>
          </a:p>
        </p:txBody>
      </p:sp>
      <p:sp>
        <p:nvSpPr>
          <p:cNvPr id="5" name="Text 3"/>
          <p:cNvSpPr/>
          <p:nvPr/>
        </p:nvSpPr>
        <p:spPr>
          <a:xfrm>
            <a:off x="952500" y="1685925"/>
            <a:ext cx="16678275"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The distributions did separate — just not by enough.</a:t>
            </a:r>
            <a:endParaRPr lang="en-US" sz="4800" dirty="0"/>
          </a:p>
        </p:txBody>
      </p:sp>
      <p:sp>
        <p:nvSpPr>
          <p:cNvPr id="6" name="Shape 4"/>
          <p:cNvSpPr/>
          <p:nvPr/>
        </p:nvSpPr>
        <p:spPr>
          <a:xfrm>
            <a:off x="952500" y="2813596"/>
            <a:ext cx="8001000" cy="5322391"/>
          </a:xfrm>
          <a:prstGeom prst="rect">
            <a:avLst/>
          </a:prstGeom>
          <a:solidFill>
            <a:srgbClr val="FFFFFF"/>
          </a:solidFill>
          <a:ln w="9525">
            <a:solidFill>
              <a:srgbClr val="C9C2B2"/>
            </a:solidFill>
            <a:prstDash val="solid"/>
          </a:ln>
        </p:spPr>
      </p:sp>
      <p:sp>
        <p:nvSpPr>
          <p:cNvPr id="7" name="Text 5"/>
          <p:cNvSpPr/>
          <p:nvPr/>
        </p:nvSpPr>
        <p:spPr>
          <a:xfrm>
            <a:off x="1228725" y="3051721"/>
            <a:ext cx="767200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FIG 3 · RAW</a:t>
            </a:r>
            <a:endParaRPr lang="en-US" sz="1800" dirty="0"/>
          </a:p>
        </p:txBody>
      </p:sp>
      <p:pic>
        <p:nvPicPr>
          <p:cNvPr id="8" name="Image 0" descr="preencoded.png">    </p:cNvPr>
          <p:cNvPicPr>
            <a:picLocks noChangeAspect="1"/>
          </p:cNvPicPr>
          <p:nvPr/>
        </p:nvPicPr>
        <p:blipFill>
          <a:blip r:embed="rId1"/>
          <a:stretch>
            <a:fillRect/>
          </a:stretch>
        </p:blipFill>
        <p:spPr>
          <a:xfrm>
            <a:off x="1228725" y="3480346"/>
            <a:ext cx="7448550" cy="3724275"/>
          </a:xfrm>
          <a:prstGeom prst="rect">
            <a:avLst/>
          </a:prstGeom>
        </p:spPr>
      </p:pic>
      <p:sp>
        <p:nvSpPr>
          <p:cNvPr id="9" name="Text 6"/>
          <p:cNvSpPr/>
          <p:nvPr/>
        </p:nvSpPr>
        <p:spPr>
          <a:xfrm>
            <a:off x="1228725" y="7337971"/>
            <a:ext cx="7672007"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B6B75"/>
                </a:solidFill>
                <a:latin typeface="Inter Tight" pitchFamily="34" charset="0"/>
                <a:ea typeface="Inter Tight" pitchFamily="34" charset="-122"/>
                <a:cs typeface="Inter Tight" pitchFamily="34" charset="-120"/>
              </a:rPr>
              <a:t>Genuine (blue) mostly below threshold; impostor (red) mostly above. Heavy overlap around 75.</a:t>
            </a:r>
            <a:endParaRPr lang="en-US" sz="1800" dirty="0"/>
          </a:p>
        </p:txBody>
      </p:sp>
      <p:sp>
        <p:nvSpPr>
          <p:cNvPr id="10" name="Shape 7"/>
          <p:cNvSpPr/>
          <p:nvPr/>
        </p:nvSpPr>
        <p:spPr>
          <a:xfrm>
            <a:off x="9334500" y="2813596"/>
            <a:ext cx="8001000" cy="5322391"/>
          </a:xfrm>
          <a:prstGeom prst="rect">
            <a:avLst/>
          </a:prstGeom>
          <a:solidFill>
            <a:srgbClr val="FFFFFF"/>
          </a:solidFill>
          <a:ln w="9525">
            <a:solidFill>
              <a:srgbClr val="C9C2B2"/>
            </a:solidFill>
            <a:prstDash val="solid"/>
          </a:ln>
        </p:spPr>
      </p:sp>
      <p:sp>
        <p:nvSpPr>
          <p:cNvPr id="11" name="Text 8"/>
          <p:cNvSpPr/>
          <p:nvPr/>
        </p:nvSpPr>
        <p:spPr>
          <a:xfrm>
            <a:off x="9610725" y="3051721"/>
            <a:ext cx="7672007"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FIG 4 · DENOISED</a:t>
            </a:r>
            <a:endParaRPr lang="en-US" sz="1800" dirty="0"/>
          </a:p>
        </p:txBody>
      </p:sp>
      <p:pic>
        <p:nvPicPr>
          <p:cNvPr id="12" name="Image 1" descr="preencoded.png">    </p:cNvPr>
          <p:cNvPicPr>
            <a:picLocks noChangeAspect="1"/>
          </p:cNvPicPr>
          <p:nvPr/>
        </p:nvPicPr>
        <p:blipFill>
          <a:blip r:embed="rId2"/>
          <a:stretch>
            <a:fillRect/>
          </a:stretch>
        </p:blipFill>
        <p:spPr>
          <a:xfrm>
            <a:off x="9610725" y="3480346"/>
            <a:ext cx="7448550" cy="3724275"/>
          </a:xfrm>
          <a:prstGeom prst="rect">
            <a:avLst/>
          </a:prstGeom>
        </p:spPr>
      </p:pic>
      <p:sp>
        <p:nvSpPr>
          <p:cNvPr id="13" name="Text 9"/>
          <p:cNvSpPr/>
          <p:nvPr/>
        </p:nvSpPr>
        <p:spPr>
          <a:xfrm>
            <a:off x="9610725" y="7337971"/>
            <a:ext cx="7672007" cy="655141"/>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6B6B75"/>
                </a:solidFill>
                <a:latin typeface="Inter Tight" pitchFamily="34" charset="0"/>
                <a:ea typeface="Inter Tight" pitchFamily="34" charset="-122"/>
                <a:cs typeface="Inter Tight" pitchFamily="34" charset="-120"/>
              </a:rPr>
              <a:t>Genuine and impostor pull apart more than in the raw case — but separation is still incomplete at the fixed threshold.</a:t>
            </a:r>
            <a:endParaRPr lang="en-US" sz="1800" dirty="0"/>
          </a:p>
        </p:txBody>
      </p:sp>
      <p:sp>
        <p:nvSpPr>
          <p:cNvPr id="14" name="Text 10"/>
          <p:cNvSpPr/>
          <p:nvPr/>
        </p:nvSpPr>
        <p:spPr>
          <a:xfrm>
            <a:off x="952500" y="9496425"/>
            <a:ext cx="249034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RESULTS · SCORES</a:t>
            </a:r>
            <a:endParaRPr lang="en-US" sz="1800" dirty="0"/>
          </a:p>
        </p:txBody>
      </p:sp>
      <p:sp>
        <p:nvSpPr>
          <p:cNvPr id="15" name="Text 11"/>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10 / 14</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3549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RESULTS</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11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RESULTS · RATE COMPARISON</a:t>
            </a:r>
            <a:endParaRPr lang="en-US" sz="1800" dirty="0"/>
          </a:p>
        </p:txBody>
      </p:sp>
      <p:sp>
        <p:nvSpPr>
          <p:cNvPr id="5" name="Text 3"/>
          <p:cNvSpPr/>
          <p:nvPr/>
        </p:nvSpPr>
        <p:spPr>
          <a:xfrm>
            <a:off x="952500" y="1685925"/>
            <a:ext cx="16678275"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spc="-72" kern="0" dirty="0">
                <a:solidFill>
                  <a:srgbClr val="1A1A1F"/>
                </a:solidFill>
                <a:latin typeface="Inter Tight" pitchFamily="34" charset="0"/>
                <a:ea typeface="Inter Tight" pitchFamily="34" charset="-122"/>
                <a:cs typeface="Inter Tight" pitchFamily="34" charset="-120"/>
              </a:rPr>
              <a:t>TAR and FRR improve sharply. FAR rises at the fixed threshold.</a:t>
            </a:r>
            <a:endParaRPr lang="en-US" sz="4800" dirty="0"/>
          </a:p>
        </p:txBody>
      </p:sp>
      <p:sp>
        <p:nvSpPr>
          <p:cNvPr id="6" name="Shape 4"/>
          <p:cNvSpPr/>
          <p:nvPr/>
        </p:nvSpPr>
        <p:spPr>
          <a:xfrm>
            <a:off x="952500" y="2956024"/>
            <a:ext cx="8805267" cy="5563493"/>
          </a:xfrm>
          <a:prstGeom prst="rect">
            <a:avLst/>
          </a:prstGeom>
          <a:solidFill>
            <a:srgbClr val="FFFFFF"/>
          </a:solidFill>
          <a:ln w="9525">
            <a:solidFill>
              <a:srgbClr val="C9C2B2"/>
            </a:solidFill>
            <a:prstDash val="solid"/>
          </a:ln>
        </p:spPr>
      </p:sp>
      <p:sp>
        <p:nvSpPr>
          <p:cNvPr id="7" name="Text 5"/>
          <p:cNvSpPr/>
          <p:nvPr/>
        </p:nvSpPr>
        <p:spPr>
          <a:xfrm>
            <a:off x="1228725" y="3194149"/>
            <a:ext cx="8500402"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FIG 5 · FAR / FRR / TAR, RAW VS. DENOISED</a:t>
            </a:r>
            <a:endParaRPr lang="en-US" sz="1800" dirty="0"/>
          </a:p>
        </p:txBody>
      </p:sp>
      <p:pic>
        <p:nvPicPr>
          <p:cNvPr id="8" name="Image 0" descr="preencoded.png">    </p:cNvPr>
          <p:cNvPicPr>
            <a:picLocks noChangeAspect="1"/>
          </p:cNvPicPr>
          <p:nvPr/>
        </p:nvPicPr>
        <p:blipFill>
          <a:blip r:embed="rId1"/>
          <a:stretch>
            <a:fillRect/>
          </a:stretch>
        </p:blipFill>
        <p:spPr>
          <a:xfrm>
            <a:off x="1228725" y="3622774"/>
            <a:ext cx="8252817" cy="4715768"/>
          </a:xfrm>
          <a:prstGeom prst="rect">
            <a:avLst/>
          </a:prstGeom>
        </p:spPr>
      </p:pic>
      <p:sp>
        <p:nvSpPr>
          <p:cNvPr id="9" name="Shape 6"/>
          <p:cNvSpPr/>
          <p:nvPr/>
        </p:nvSpPr>
        <p:spPr>
          <a:xfrm>
            <a:off x="10291167" y="2661196"/>
            <a:ext cx="7044333" cy="19050"/>
          </a:xfrm>
          <a:prstGeom prst="rect">
            <a:avLst/>
          </a:prstGeom>
          <a:solidFill>
            <a:srgbClr val="1A1A1F"/>
          </a:solidFill>
          <a:ln/>
        </p:spPr>
      </p:sp>
      <p:sp>
        <p:nvSpPr>
          <p:cNvPr id="10" name="Text 7"/>
          <p:cNvSpPr/>
          <p:nvPr/>
        </p:nvSpPr>
        <p:spPr>
          <a:xfrm>
            <a:off x="10291167" y="2851696"/>
            <a:ext cx="725566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TAR · TRUE ACCEPT</a:t>
            </a:r>
            <a:endParaRPr lang="en-US" sz="1800" dirty="0"/>
          </a:p>
        </p:txBody>
      </p:sp>
      <p:sp>
        <p:nvSpPr>
          <p:cNvPr id="11" name="Text 8"/>
          <p:cNvSpPr/>
          <p:nvPr/>
        </p:nvSpPr>
        <p:spPr>
          <a:xfrm>
            <a:off x="10291167" y="3242221"/>
            <a:ext cx="7255663"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1A1A1F"/>
                </a:solidFill>
                <a:latin typeface="Fraunces" pitchFamily="34" charset="0"/>
                <a:ea typeface="Fraunces" pitchFamily="34" charset="-122"/>
                <a:cs typeface="Fraunces" pitchFamily="34" charset="-120"/>
              </a:rPr>
              <a:t>+29 pt</a:t>
            </a:r>
            <a:endParaRPr lang="en-US" sz="6600" dirty="0"/>
          </a:p>
        </p:txBody>
      </p:sp>
      <p:sp>
        <p:nvSpPr>
          <p:cNvPr id="12" name="Text 9"/>
          <p:cNvSpPr/>
          <p:nvPr/>
        </p:nvSpPr>
        <p:spPr>
          <a:xfrm>
            <a:off x="10291167" y="4175671"/>
            <a:ext cx="7255663"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0.63 → 0.92</a:t>
            </a:r>
            <a:endParaRPr lang="en-US" sz="1950" dirty="0"/>
          </a:p>
        </p:txBody>
      </p:sp>
      <p:sp>
        <p:nvSpPr>
          <p:cNvPr id="13" name="Shape 10"/>
          <p:cNvSpPr/>
          <p:nvPr/>
        </p:nvSpPr>
        <p:spPr>
          <a:xfrm>
            <a:off x="10291167" y="4813846"/>
            <a:ext cx="7044333" cy="19050"/>
          </a:xfrm>
          <a:prstGeom prst="rect">
            <a:avLst/>
          </a:prstGeom>
          <a:solidFill>
            <a:srgbClr val="1A1A1F"/>
          </a:solidFill>
          <a:ln/>
        </p:spPr>
      </p:sp>
      <p:sp>
        <p:nvSpPr>
          <p:cNvPr id="14" name="Text 11"/>
          <p:cNvSpPr/>
          <p:nvPr/>
        </p:nvSpPr>
        <p:spPr>
          <a:xfrm>
            <a:off x="10291167" y="5004346"/>
            <a:ext cx="725566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75"/>
                </a:solidFill>
                <a:latin typeface="JetBrains Mono" pitchFamily="34" charset="0"/>
                <a:ea typeface="JetBrains Mono" pitchFamily="34" charset="-122"/>
                <a:cs typeface="JetBrains Mono" pitchFamily="34" charset="-120"/>
              </a:rPr>
              <a:t>FRR · FALSE REJECT</a:t>
            </a:r>
            <a:endParaRPr lang="en-US" sz="1800" dirty="0"/>
          </a:p>
        </p:txBody>
      </p:sp>
      <p:sp>
        <p:nvSpPr>
          <p:cNvPr id="15" name="Text 12"/>
          <p:cNvSpPr/>
          <p:nvPr/>
        </p:nvSpPr>
        <p:spPr>
          <a:xfrm>
            <a:off x="10291167" y="5394871"/>
            <a:ext cx="7255663"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1A1A1F"/>
                </a:solidFill>
                <a:latin typeface="Fraunces" pitchFamily="34" charset="0"/>
                <a:ea typeface="Fraunces" pitchFamily="34" charset="-122"/>
                <a:cs typeface="Fraunces" pitchFamily="34" charset="-120"/>
              </a:rPr>
              <a:t>−29 pt</a:t>
            </a:r>
            <a:endParaRPr lang="en-US" sz="6600" dirty="0"/>
          </a:p>
        </p:txBody>
      </p:sp>
      <p:sp>
        <p:nvSpPr>
          <p:cNvPr id="16" name="Text 13"/>
          <p:cNvSpPr/>
          <p:nvPr/>
        </p:nvSpPr>
        <p:spPr>
          <a:xfrm>
            <a:off x="10291167" y="6328321"/>
            <a:ext cx="7255663"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0.37 → 0.08</a:t>
            </a:r>
            <a:endParaRPr lang="en-US" sz="1950" dirty="0"/>
          </a:p>
        </p:txBody>
      </p:sp>
      <p:sp>
        <p:nvSpPr>
          <p:cNvPr id="17" name="Text 14"/>
          <p:cNvSpPr/>
          <p:nvPr/>
        </p:nvSpPr>
        <p:spPr>
          <a:xfrm>
            <a:off x="10291167" y="7156996"/>
            <a:ext cx="7255663"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000000"/>
                </a:solidFill>
                <a:latin typeface="JetBrains Mono" pitchFamily="34" charset="0"/>
                <a:ea typeface="JetBrains Mono" pitchFamily="34" charset="-122"/>
                <a:cs typeface="JetBrains Mono" pitchFamily="34" charset="-120"/>
              </a:rPr>
              <a:t>FAR · FALSE ACCEPT</a:t>
            </a:r>
            <a:endParaRPr lang="en-US" sz="1800" dirty="0"/>
          </a:p>
        </p:txBody>
      </p:sp>
      <p:sp>
        <p:nvSpPr>
          <p:cNvPr id="18" name="Text 15"/>
          <p:cNvSpPr/>
          <p:nvPr/>
        </p:nvSpPr>
        <p:spPr>
          <a:xfrm>
            <a:off x="10291167" y="7547521"/>
            <a:ext cx="7255663"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000000"/>
                </a:solidFill>
                <a:latin typeface="Fraunces" pitchFamily="34" charset="0"/>
                <a:ea typeface="Fraunces" pitchFamily="34" charset="-122"/>
                <a:cs typeface="Fraunces" pitchFamily="34" charset="-120"/>
              </a:rPr>
              <a:t>+32 pt</a:t>
            </a:r>
            <a:endParaRPr lang="en-US" sz="6600" dirty="0"/>
          </a:p>
        </p:txBody>
      </p:sp>
      <p:sp>
        <p:nvSpPr>
          <p:cNvPr id="19" name="Text 16"/>
          <p:cNvSpPr/>
          <p:nvPr/>
        </p:nvSpPr>
        <p:spPr>
          <a:xfrm>
            <a:off x="10291167" y="8480971"/>
            <a:ext cx="7255663"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0.11 → 0.43</a:t>
            </a:r>
            <a:endParaRPr lang="en-US" sz="1950" dirty="0"/>
          </a:p>
        </p:txBody>
      </p:sp>
      <p:sp>
        <p:nvSpPr>
          <p:cNvPr id="20" name="Text 17"/>
          <p:cNvSpPr/>
          <p:nvPr/>
        </p:nvSpPr>
        <p:spPr>
          <a:xfrm>
            <a:off x="952500" y="9496425"/>
            <a:ext cx="2339429"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RESULTS · RATES</a:t>
            </a:r>
            <a:endParaRPr lang="en-US" sz="1800" dirty="0"/>
          </a:p>
        </p:txBody>
      </p:sp>
      <p:sp>
        <p:nvSpPr>
          <p:cNvPr id="21" name="Text 18"/>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11 / 14</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DISCUSSION</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B6B75"/>
                </a:solidFill>
                <a:latin typeface="JetBrains Mono" pitchFamily="34" charset="0"/>
                <a:ea typeface="JetBrains Mono" pitchFamily="34" charset="-122"/>
                <a:cs typeface="JetBrains Mono" pitchFamily="34" charset="-120"/>
              </a:rPr>
              <a:t>12 / 14</a:t>
            </a:r>
            <a:endParaRPr lang="en-US" sz="1800" dirty="0"/>
          </a:p>
        </p:txBody>
      </p:sp>
      <p:sp>
        <p:nvSpPr>
          <p:cNvPr id="4" name="Text 2"/>
          <p:cNvSpPr/>
          <p:nvPr/>
        </p:nvSpPr>
        <p:spPr>
          <a:xfrm>
            <a:off x="952500" y="1047750"/>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000000"/>
                </a:solidFill>
                <a:latin typeface="JetBrains Mono" pitchFamily="34" charset="0"/>
                <a:ea typeface="JetBrains Mono" pitchFamily="34" charset="-122"/>
                <a:cs typeface="JetBrains Mono" pitchFamily="34" charset="-120"/>
              </a:rPr>
              <a:t>DISCUSSION</a:t>
            </a:r>
            <a:endParaRPr lang="en-US" sz="1800" dirty="0"/>
          </a:p>
        </p:txBody>
      </p:sp>
      <p:sp>
        <p:nvSpPr>
          <p:cNvPr id="5" name="Text 3"/>
          <p:cNvSpPr/>
          <p:nvPr/>
        </p:nvSpPr>
        <p:spPr>
          <a:xfrm>
            <a:off x="952500" y="1685925"/>
            <a:ext cx="16678275" cy="1558230"/>
          </a:xfrm>
          <a:prstGeom prst="rect">
            <a:avLst/>
          </a:prstGeom>
          <a:noFill/>
          <a:ln/>
        </p:spPr>
        <p:txBody>
          <a:bodyPr wrap="square" lIns="25400" tIns="25400" rIns="25400" bIns="25400" rtlCol="0" anchor="t">
            <a:normAutofit/>
          </a:bodyPr>
          <a:lstStyle/>
          <a:p>
            <a:pPr algn="l" indent="0" marL="0">
              <a:lnSpc>
                <a:spcPct val="105000"/>
              </a:lnSpc>
              <a:buNone/>
            </a:pPr>
            <a:r>
              <a:rPr lang="en-US" sz="5700" spc="-114" kern="0" dirty="0">
                <a:solidFill>
                  <a:srgbClr val="1A1A1F"/>
                </a:solidFill>
                <a:latin typeface="Inter Tight" pitchFamily="34" charset="0"/>
                <a:ea typeface="Inter Tight" pitchFamily="34" charset="-122"/>
                <a:cs typeface="Inter Tight" pitchFamily="34" charset="-120"/>
              </a:rPr>
              <a:t>Denoising helped — just not enough, and not at a fixed threshold.</a:t>
            </a:r>
            <a:endParaRPr lang="en-US" sz="5700" dirty="0"/>
          </a:p>
        </p:txBody>
      </p:sp>
      <p:sp>
        <p:nvSpPr>
          <p:cNvPr id="6" name="Text 4"/>
          <p:cNvSpPr/>
          <p:nvPr/>
        </p:nvSpPr>
        <p:spPr>
          <a:xfrm>
            <a:off x="952500" y="3739455"/>
            <a:ext cx="8093869"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000000"/>
                </a:solidFill>
                <a:latin typeface="JetBrains Mono" pitchFamily="34" charset="0"/>
                <a:ea typeface="JetBrains Mono" pitchFamily="34" charset="-122"/>
                <a:cs typeface="JetBrains Mono" pitchFamily="34" charset="-120"/>
              </a:rPr>
              <a:t>WHAT IMPROVED</a:t>
            </a:r>
            <a:endParaRPr lang="en-US" sz="2100" dirty="0"/>
          </a:p>
        </p:txBody>
      </p:sp>
      <p:sp>
        <p:nvSpPr>
          <p:cNvPr id="7" name="Text 5"/>
          <p:cNvSpPr/>
          <p:nvPr/>
        </p:nvSpPr>
        <p:spPr>
          <a:xfrm>
            <a:off x="952500" y="4232821"/>
            <a:ext cx="8093869" cy="2064544"/>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Genuine and impostor distributions did pull apart. Cleaner spectra let the encoder place a true speaker closer to their own centroid, and TAR climbed accordingly.</a:t>
            </a:r>
            <a:endParaRPr lang="en-US" sz="2850" dirty="0"/>
          </a:p>
        </p:txBody>
      </p:sp>
      <p:sp>
        <p:nvSpPr>
          <p:cNvPr id="8" name="Text 6"/>
          <p:cNvSpPr/>
          <p:nvPr/>
        </p:nvSpPr>
        <p:spPr>
          <a:xfrm>
            <a:off x="9477375" y="3739455"/>
            <a:ext cx="8093869" cy="398115"/>
          </a:xfrm>
          <a:prstGeom prst="rect">
            <a:avLst/>
          </a:prstGeom>
          <a:noFill/>
          <a:ln/>
        </p:spPr>
        <p:txBody>
          <a:bodyPr wrap="square" lIns="25400" tIns="25400" rIns="25400" bIns="25400" rtlCol="0" anchor="t">
            <a:normAutofit/>
          </a:bodyPr>
          <a:lstStyle/>
          <a:p>
            <a:pPr algn="l" indent="0" marL="0">
              <a:lnSpc>
                <a:spcPct val="135000"/>
              </a:lnSpc>
              <a:buNone/>
            </a:pPr>
            <a:r>
              <a:rPr lang="en-US" sz="2100" spc="294" kern="0" dirty="0">
                <a:solidFill>
                  <a:srgbClr val="000000"/>
                </a:solidFill>
                <a:latin typeface="JetBrains Mono" pitchFamily="34" charset="0"/>
                <a:ea typeface="JetBrains Mono" pitchFamily="34" charset="-122"/>
                <a:cs typeface="JetBrains Mono" pitchFamily="34" charset="-120"/>
              </a:rPr>
              <a:t>WHAT HELD IT BACK</a:t>
            </a:r>
            <a:endParaRPr lang="en-US" sz="2100" dirty="0"/>
          </a:p>
        </p:txBody>
      </p:sp>
      <p:sp>
        <p:nvSpPr>
          <p:cNvPr id="9" name="Text 7"/>
          <p:cNvSpPr/>
          <p:nvPr/>
        </p:nvSpPr>
        <p:spPr>
          <a:xfrm>
            <a:off x="9477375" y="4232821"/>
            <a:ext cx="8093869" cy="2571155"/>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The separation isn't large enough under a simple MFCC + centroid front end. We held the threshold fixed at 75 across both conditions — our focus was the score distributions, not tuning the operating point.</a:t>
            </a:r>
            <a:endParaRPr lang="en-US" sz="2850" dirty="0"/>
          </a:p>
        </p:txBody>
      </p:sp>
      <p:sp>
        <p:nvSpPr>
          <p:cNvPr id="10" name="Text 8"/>
          <p:cNvSpPr/>
          <p:nvPr/>
        </p:nvSpPr>
        <p:spPr>
          <a:xfrm>
            <a:off x="1323975" y="7413575"/>
            <a:ext cx="16491871" cy="1557933"/>
          </a:xfrm>
          <a:prstGeom prst="rect">
            <a:avLst/>
          </a:prstGeom>
          <a:noFill/>
          <a:ln/>
        </p:spPr>
        <p:txBody>
          <a:bodyPr wrap="square" lIns="25400" tIns="25400" rIns="25400" bIns="25400" rtlCol="0" anchor="t">
            <a:normAutofit/>
          </a:bodyPr>
          <a:lstStyle/>
          <a:p>
            <a:pPr algn="l" indent="0" marL="0">
              <a:lnSpc>
                <a:spcPct val="140000"/>
              </a:lnSpc>
              <a:buNone/>
            </a:pPr>
            <a:r>
              <a:rPr lang="en-US" sz="2850" i="1" dirty="0">
                <a:solidFill>
                  <a:srgbClr val="1A1A1F"/>
                </a:solidFill>
                <a:latin typeface="Inter Tight" pitchFamily="34" charset="0"/>
                <a:ea typeface="Inter Tight" pitchFamily="34" charset="-122"/>
                <a:cs typeface="Inter Tight" pitchFamily="34" charset="-120"/>
              </a:rPr>
              <a:t>Plausible ceiling. </a:t>
            </a:r>
            <a:pPr algn="l" indent="0" marL="0">
              <a:lnSpc>
                <a:spcPct val="140000"/>
              </a:lnSpc>
              <a:buNone/>
            </a:pPr>
            <a:r>
              <a:rPr lang="en-US" sz="2850" dirty="0">
                <a:solidFill>
                  <a:srgbClr val="1A1A1F"/>
                </a:solidFill>
                <a:latin typeface="Inter Tight" pitchFamily="34" charset="0"/>
                <a:ea typeface="Inter Tight" pitchFamily="34" charset="-122"/>
                <a:cs typeface="Inter Tight" pitchFamily="34" charset="-120"/>
              </a:rPr>
              <a:t>A stronger denoiser and a modern neural speaker embedding would likely yield a cleaner, more separable template space — and a threshold tuned for the denoised distribution would recover much of the apparent FAR increase.</a:t>
            </a:r>
            <a:endParaRPr lang="en-US" sz="2850" dirty="0"/>
          </a:p>
        </p:txBody>
      </p:sp>
      <p:sp>
        <p:nvSpPr>
          <p:cNvPr id="11" name="Text 9"/>
          <p:cNvSpPr/>
          <p:nvPr/>
        </p:nvSpPr>
        <p:spPr>
          <a:xfrm>
            <a:off x="952500" y="9496425"/>
            <a:ext cx="1585020"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DISCUSSION</a:t>
            </a:r>
            <a:endParaRPr lang="en-US" sz="1800" dirty="0"/>
          </a:p>
        </p:txBody>
      </p:sp>
      <p:sp>
        <p:nvSpPr>
          <p:cNvPr id="12" name="Text 10"/>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B6B75"/>
                </a:solidFill>
                <a:latin typeface="JetBrains Mono" pitchFamily="34" charset="0"/>
                <a:ea typeface="JetBrains Mono" pitchFamily="34" charset="-122"/>
                <a:cs typeface="JetBrains Mono" pitchFamily="34" charset="-120"/>
              </a:rPr>
              <a:t>12 / 14</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52500" y="457200"/>
            <a:ext cx="182121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CONCLUSION</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13 / 14</a:t>
            </a:r>
            <a:endParaRPr lang="en-US" sz="1800" dirty="0"/>
          </a:p>
        </p:txBody>
      </p:sp>
      <p:sp>
        <p:nvSpPr>
          <p:cNvPr id="4" name="Shape 2"/>
          <p:cNvSpPr/>
          <p:nvPr/>
        </p:nvSpPr>
        <p:spPr>
          <a:xfrm>
            <a:off x="952500" y="2429917"/>
            <a:ext cx="2091779" cy="504825"/>
          </a:xfrm>
          <a:prstGeom prst="roundRect">
            <a:avLst>
              <a:gd name="adj" fmla="val 50000"/>
            </a:avLst>
          </a:prstGeom>
          <a:ln w="9525">
            <a:solidFill>
              <a:srgbClr val="F4F1EA"/>
            </a:solidFill>
            <a:prstDash val="solid"/>
          </a:ln>
        </p:spPr>
      </p:sp>
      <p:sp>
        <p:nvSpPr>
          <p:cNvPr id="5" name="Text 3"/>
          <p:cNvSpPr/>
          <p:nvPr/>
        </p:nvSpPr>
        <p:spPr>
          <a:xfrm>
            <a:off x="1152525" y="2534692"/>
            <a:ext cx="1767929"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1EA"/>
                </a:solidFill>
                <a:latin typeface="JetBrains Mono" pitchFamily="34" charset="0"/>
                <a:ea typeface="JetBrains Mono" pitchFamily="34" charset="-122"/>
                <a:cs typeface="JetBrains Mono" pitchFamily="34" charset="-120"/>
              </a:rPr>
              <a:t>CONCLUSION</a:t>
            </a:r>
            <a:endParaRPr lang="en-US" sz="1800" dirty="0"/>
          </a:p>
        </p:txBody>
      </p:sp>
      <p:sp>
        <p:nvSpPr>
          <p:cNvPr id="6" name="Text 4"/>
          <p:cNvSpPr/>
          <p:nvPr/>
        </p:nvSpPr>
        <p:spPr>
          <a:xfrm>
            <a:off x="952500" y="3277642"/>
            <a:ext cx="16678275" cy="2404021"/>
          </a:xfrm>
          <a:prstGeom prst="rect">
            <a:avLst/>
          </a:prstGeom>
          <a:noFill/>
          <a:ln/>
        </p:spPr>
        <p:txBody>
          <a:bodyPr wrap="square" lIns="25400" tIns="25400" rIns="25400" bIns="25400" rtlCol="0" anchor="t">
            <a:normAutofit/>
          </a:bodyPr>
          <a:lstStyle/>
          <a:p>
            <a:pPr algn="l" indent="0" marL="0">
              <a:lnSpc>
                <a:spcPct val="115000"/>
              </a:lnSpc>
              <a:buNone/>
            </a:pPr>
            <a:r>
              <a:rPr lang="en-US" sz="5400" spc="-81" kern="0" dirty="0">
                <a:solidFill>
                  <a:srgbClr val="F4F1EA"/>
                </a:solidFill>
                <a:latin typeface="Fraunces" pitchFamily="34" charset="0"/>
                <a:ea typeface="Fraunces" pitchFamily="34" charset="-122"/>
                <a:cs typeface="Fraunces" pitchFamily="34" charset="-120"/>
              </a:rPr>
              <a:t>Denoising helped — the score distributions pulled apart. It just didn't help enough, under this pipeline, at a fixed threshold.</a:t>
            </a:r>
            <a:endParaRPr lang="en-US" sz="5400" dirty="0"/>
          </a:p>
        </p:txBody>
      </p:sp>
      <p:sp>
        <p:nvSpPr>
          <p:cNvPr id="7" name="Shape 5"/>
          <p:cNvSpPr/>
          <p:nvPr/>
        </p:nvSpPr>
        <p:spPr>
          <a:xfrm>
            <a:off x="952500" y="6253163"/>
            <a:ext cx="3429000" cy="9525"/>
          </a:xfrm>
          <a:prstGeom prst="rect">
            <a:avLst/>
          </a:prstGeom>
          <a:solidFill>
            <a:srgbClr val="ECE7DC">
              <a:alpha val="25000"/>
            </a:srgbClr>
          </a:solidFill>
          <a:ln/>
        </p:spPr>
      </p:sp>
      <p:sp>
        <p:nvSpPr>
          <p:cNvPr id="8" name="Text 6"/>
          <p:cNvSpPr/>
          <p:nvPr/>
        </p:nvSpPr>
        <p:spPr>
          <a:xfrm>
            <a:off x="952500" y="6453188"/>
            <a:ext cx="16874490" cy="333375"/>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1EA">
                    <a:alpha val="80000"/>
                  </a:srgbClr>
                </a:solidFill>
                <a:latin typeface="JetBrains Mono" pitchFamily="34" charset="0"/>
                <a:ea typeface="JetBrains Mono" pitchFamily="34" charset="-122"/>
                <a:cs typeface="JetBrains Mono" pitchFamily="34" charset="-120"/>
              </a:rPr>
              <a:t>WHAT WE'D TRY NEXT</a:t>
            </a:r>
            <a:endParaRPr lang="en-US" sz="1800" dirty="0"/>
          </a:p>
        </p:txBody>
      </p:sp>
      <p:sp>
        <p:nvSpPr>
          <p:cNvPr id="9" name="Text 7"/>
          <p:cNvSpPr/>
          <p:nvPr/>
        </p:nvSpPr>
        <p:spPr>
          <a:xfrm>
            <a:off x="952500" y="6843713"/>
            <a:ext cx="15697200"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F4F1EA"/>
                </a:solidFill>
                <a:latin typeface="Inter Tight" pitchFamily="34" charset="0"/>
                <a:ea typeface="Inter Tight" pitchFamily="34" charset="-122"/>
                <a:cs typeface="Inter Tight" pitchFamily="34" charset="-120"/>
              </a:rPr>
              <a:t>A stronger denoiser and a modern neural speaker embedding. Tune the threshold for the denoised score distribution rather than inheriting the raw one.</a:t>
            </a:r>
            <a:endParaRPr lang="en-US" sz="2850" dirty="0"/>
          </a:p>
        </p:txBody>
      </p:sp>
      <p:sp>
        <p:nvSpPr>
          <p:cNvPr id="10" name="Text 8"/>
          <p:cNvSpPr/>
          <p:nvPr/>
        </p:nvSpPr>
        <p:spPr>
          <a:xfrm>
            <a:off x="952500" y="9496425"/>
            <a:ext cx="1585020"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F4F1EA">
                    <a:alpha val="65000"/>
                  </a:srgbClr>
                </a:solidFill>
                <a:latin typeface="JetBrains Mono" pitchFamily="34" charset="0"/>
                <a:ea typeface="JetBrains Mono" pitchFamily="34" charset="-122"/>
                <a:cs typeface="JetBrains Mono" pitchFamily="34" charset="-120"/>
              </a:rPr>
              <a:t>CONCLUSION</a:t>
            </a:r>
            <a:endParaRPr lang="en-US" sz="1800" dirty="0"/>
          </a:p>
        </p:txBody>
      </p:sp>
      <p:sp>
        <p:nvSpPr>
          <p:cNvPr id="11" name="Text 9"/>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F4F1EA">
                    <a:alpha val="65000"/>
                  </a:srgbClr>
                </a:solidFill>
                <a:latin typeface="JetBrains Mono" pitchFamily="34" charset="0"/>
                <a:ea typeface="JetBrains Mono" pitchFamily="34" charset="-122"/>
                <a:cs typeface="JetBrains Mono" pitchFamily="34" charset="-120"/>
              </a:rPr>
              <a:t>13 / 14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1A"/>
        </a:solidFill>
      </p:bgPr>
    </p:bg>
    <p:spTree>
      <p:nvGrpSpPr>
        <p:cNvPr id="1" name=""/>
        <p:cNvGrpSpPr/>
        <p:nvPr/>
      </p:nvGrpSpPr>
      <p:grpSpPr>
        <a:xfrm>
          <a:off x="0" y="0"/>
          <a:ext cx="0" cy="0"/>
          <a:chOff x="0" y="0"/>
          <a:chExt cx="0" cy="0"/>
        </a:xfrm>
      </p:grpSpPr>
      <p:sp>
        <p:nvSpPr>
          <p:cNvPr id="2" name="Text 0"/>
          <p:cNvSpPr/>
          <p:nvPr/>
        </p:nvSpPr>
        <p:spPr>
          <a:xfrm>
            <a:off x="952500" y="457200"/>
            <a:ext cx="7331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END</a:t>
            </a:r>
            <a:endParaRPr lang="en-US" sz="1800" dirty="0"/>
          </a:p>
        </p:txBody>
      </p:sp>
      <p:sp>
        <p:nvSpPr>
          <p:cNvPr id="3" name="Text 1"/>
          <p:cNvSpPr/>
          <p:nvPr/>
        </p:nvSpPr>
        <p:spPr>
          <a:xfrm>
            <a:off x="16247269" y="457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ECE7DC">
                    <a:alpha val="60000"/>
                  </a:srgbClr>
                </a:solidFill>
                <a:latin typeface="JetBrains Mono" pitchFamily="34" charset="0"/>
                <a:ea typeface="JetBrains Mono" pitchFamily="34" charset="-122"/>
                <a:cs typeface="JetBrains Mono" pitchFamily="34" charset="-120"/>
              </a:rPr>
              <a:t>14 / 14</a:t>
            </a:r>
            <a:endParaRPr lang="en-US" sz="1800" dirty="0"/>
          </a:p>
        </p:txBody>
      </p:sp>
      <p:sp>
        <p:nvSpPr>
          <p:cNvPr id="4" name="Text 2"/>
          <p:cNvSpPr/>
          <p:nvPr/>
        </p:nvSpPr>
        <p:spPr>
          <a:xfrm>
            <a:off x="952500" y="3027164"/>
            <a:ext cx="16874490" cy="3333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F4F1EA"/>
                </a:solidFill>
                <a:latin typeface="JetBrains Mono" pitchFamily="34" charset="0"/>
                <a:ea typeface="JetBrains Mono" pitchFamily="34" charset="-122"/>
                <a:cs typeface="JetBrains Mono" pitchFamily="34" charset="-120"/>
              </a:rPr>
              <a:t>QUESTIONS</a:t>
            </a:r>
            <a:endParaRPr lang="en-US" sz="1800" dirty="0"/>
          </a:p>
        </p:txBody>
      </p:sp>
      <p:sp>
        <p:nvSpPr>
          <p:cNvPr id="5" name="Text 3"/>
          <p:cNvSpPr/>
          <p:nvPr/>
        </p:nvSpPr>
        <p:spPr>
          <a:xfrm>
            <a:off x="952500" y="3665339"/>
            <a:ext cx="16874490" cy="1847850"/>
          </a:xfrm>
          <a:prstGeom prst="rect">
            <a:avLst/>
          </a:prstGeom>
          <a:noFill/>
          <a:ln/>
        </p:spPr>
        <p:txBody>
          <a:bodyPr wrap="square" lIns="25400" tIns="25400" rIns="25400" bIns="25400" rtlCol="0" anchor="t">
            <a:normAutofit/>
          </a:bodyPr>
          <a:lstStyle/>
          <a:p>
            <a:pPr algn="l" indent="0" marL="0">
              <a:lnSpc>
                <a:spcPct val="95000"/>
              </a:lnSpc>
              <a:buNone/>
            </a:pPr>
            <a:r>
              <a:rPr lang="en-US" sz="15000" spc="-450" kern="0" dirty="0">
                <a:solidFill>
                  <a:srgbClr val="F4F1EA"/>
                </a:solidFill>
                <a:latin typeface="Fraunces" pitchFamily="34" charset="0"/>
                <a:ea typeface="Fraunces" pitchFamily="34" charset="-122"/>
                <a:cs typeface="Fraunces" pitchFamily="34" charset="-120"/>
              </a:rPr>
              <a:t>Thank you.</a:t>
            </a:r>
            <a:endParaRPr lang="en-US" sz="15000" dirty="0"/>
          </a:p>
        </p:txBody>
      </p:sp>
      <p:sp>
        <p:nvSpPr>
          <p:cNvPr id="6" name="Shape 4"/>
          <p:cNvSpPr/>
          <p:nvPr/>
        </p:nvSpPr>
        <p:spPr>
          <a:xfrm>
            <a:off x="952500" y="6008489"/>
            <a:ext cx="3429000" cy="9525"/>
          </a:xfrm>
          <a:prstGeom prst="rect">
            <a:avLst/>
          </a:prstGeom>
          <a:solidFill>
            <a:srgbClr val="ECE7DC">
              <a:alpha val="25000"/>
            </a:srgbClr>
          </a:solidFill>
          <a:ln/>
        </p:spPr>
      </p:sp>
      <p:sp>
        <p:nvSpPr>
          <p:cNvPr id="7" name="Text 5"/>
          <p:cNvSpPr/>
          <p:nvPr/>
        </p:nvSpPr>
        <p:spPr>
          <a:xfrm>
            <a:off x="952500" y="6246614"/>
            <a:ext cx="13735050" cy="1051322"/>
          </a:xfrm>
          <a:prstGeom prst="rect">
            <a:avLst/>
          </a:prstGeom>
          <a:noFill/>
          <a:ln/>
        </p:spPr>
        <p:txBody>
          <a:bodyPr wrap="square" lIns="25400" tIns="25400" rIns="25400" bIns="25400" rtlCol="0" anchor="t">
            <a:normAutofit/>
          </a:bodyPr>
          <a:lstStyle/>
          <a:p>
            <a:pPr algn="l" indent="0" marL="0">
              <a:lnSpc>
                <a:spcPct val="140000"/>
              </a:lnSpc>
              <a:buNone/>
            </a:pPr>
            <a:r>
              <a:rPr lang="en-US" sz="2850" dirty="0">
                <a:solidFill>
                  <a:srgbClr val="ECE7DC">
                    <a:alpha val="80000"/>
                  </a:srgbClr>
                </a:solidFill>
                <a:latin typeface="Inter Tight" pitchFamily="34" charset="0"/>
                <a:ea typeface="Inter Tight" pitchFamily="34" charset="-122"/>
                <a:cs typeface="Inter Tight" pitchFamily="34" charset="-120"/>
              </a:rPr>
              <a:t>Denoiser: pretrained speech enhancement model by Rashadul Hasan Badhon. Data collected by the authors on and around campus.</a:t>
            </a:r>
            <a:endParaRPr lang="en-US" sz="2850" dirty="0"/>
          </a:p>
        </p:txBody>
      </p:sp>
      <p:sp>
        <p:nvSpPr>
          <p:cNvPr id="8" name="Text 6"/>
          <p:cNvSpPr/>
          <p:nvPr/>
        </p:nvSpPr>
        <p:spPr>
          <a:xfrm>
            <a:off x="952500" y="9496425"/>
            <a:ext cx="528935"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CE7DC">
                    <a:alpha val="55000"/>
                  </a:srgbClr>
                </a:solidFill>
                <a:latin typeface="JetBrains Mono" pitchFamily="34" charset="0"/>
                <a:ea typeface="JetBrains Mono" pitchFamily="34" charset="-122"/>
                <a:cs typeface="JetBrains Mono" pitchFamily="34" charset="-120"/>
              </a:rPr>
              <a:t>Q&amp;A</a:t>
            </a:r>
            <a:endParaRPr lang="en-US" sz="1800" dirty="0"/>
          </a:p>
        </p:txBody>
      </p:sp>
      <p:sp>
        <p:nvSpPr>
          <p:cNvPr id="9" name="Text 7"/>
          <p:cNvSpPr/>
          <p:nvPr/>
        </p:nvSpPr>
        <p:spPr>
          <a:xfrm>
            <a:off x="16279267" y="9496425"/>
            <a:ext cx="1132433"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ECE7DC">
                    <a:alpha val="55000"/>
                  </a:srgbClr>
                </a:solidFill>
                <a:latin typeface="JetBrains Mono" pitchFamily="34" charset="0"/>
                <a:ea typeface="JetBrains Mono" pitchFamily="34" charset="-122"/>
                <a:cs typeface="JetBrains Mono" pitchFamily="34" charset="-120"/>
              </a:rPr>
              <a:t>14 / 14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2026-04-22T14:24:48Z</dcterms:created>
  <dcterms:modified xsi:type="dcterms:W3CDTF">2026-04-22T14:24:48Z</dcterms:modified>
</cp:coreProperties>
</file>